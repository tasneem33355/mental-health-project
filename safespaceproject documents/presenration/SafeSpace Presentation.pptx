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League Spartan" charset="1" panose="00000800000000000000"/>
      <p:regular r:id="rId40"/>
    </p:embeddedFont>
    <p:embeddedFont>
      <p:font typeface="Poppins Bold" charset="1" panose="00000800000000000000"/>
      <p:regular r:id="rId41"/>
    </p:embeddedFont>
    <p:embeddedFont>
      <p:font typeface="Computer Says No" charset="1" panose="00000400000000000000"/>
      <p:regular r:id="rId42"/>
    </p:embeddedFont>
    <p:embeddedFont>
      <p:font typeface="Poppins" charset="1" panose="00000500000000000000"/>
      <p:regular r:id="rId43"/>
    </p:embeddedFont>
    <p:embeddedFont>
      <p:font typeface="Helvetica World Bold" charset="1" panose="020B08000400000200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37.png" Type="http://schemas.openxmlformats.org/officeDocument/2006/relationships/image"/><Relationship Id="rId4" Target="../media/image41.pn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36.png" Type="http://schemas.openxmlformats.org/officeDocument/2006/relationships/image"/><Relationship Id="rId6" Target="../media/image42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41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43.png" Type="http://schemas.openxmlformats.org/officeDocument/2006/relationships/image"/><Relationship Id="rId8" Target="../embeddings/oleObject2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jpe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jpeg" Type="http://schemas.openxmlformats.org/officeDocument/2006/relationships/image"/><Relationship Id="rId11" Target="../media/image1.png" Type="http://schemas.openxmlformats.org/officeDocument/2006/relationships/image"/><Relationship Id="rId2" Target="../media/image68.jpeg" Type="http://schemas.openxmlformats.org/officeDocument/2006/relationships/image"/><Relationship Id="rId3" Target="../media/image69.jpeg" Type="http://schemas.openxmlformats.org/officeDocument/2006/relationships/image"/><Relationship Id="rId4" Target="../media/image70.jpeg" Type="http://schemas.openxmlformats.org/officeDocument/2006/relationships/image"/><Relationship Id="rId5" Target="../media/image71.jpeg" Type="http://schemas.openxmlformats.org/officeDocument/2006/relationships/image"/><Relationship Id="rId6" Target="../media/image72.jpeg" Type="http://schemas.openxmlformats.org/officeDocument/2006/relationships/image"/><Relationship Id="rId7" Target="../media/image73.jpeg" Type="http://schemas.openxmlformats.org/officeDocument/2006/relationships/image"/><Relationship Id="rId8" Target="../media/image74.jpeg" Type="http://schemas.openxmlformats.org/officeDocument/2006/relationships/image"/><Relationship Id="rId9" Target="../media/image75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376579" y="7556546"/>
            <a:ext cx="10615320" cy="7961490"/>
            <a:chOff x="0" y="0"/>
            <a:chExt cx="8128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609600"/>
                  </a:moveTo>
                  <a:lnTo>
                    <a:pt x="609600" y="60960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6B38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57150"/>
              <a:ext cx="5588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829657" y="-2120374"/>
            <a:ext cx="10615320" cy="7961490"/>
            <a:chOff x="0" y="0"/>
            <a:chExt cx="8128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609600"/>
                  </a:moveTo>
                  <a:lnTo>
                    <a:pt x="609600" y="60960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6B38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57150"/>
              <a:ext cx="5588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12817" y="4069157"/>
            <a:ext cx="895711" cy="1067615"/>
          </a:xfrm>
          <a:custGeom>
            <a:avLst/>
            <a:gdLst/>
            <a:ahLst/>
            <a:cxnLst/>
            <a:rect r="r" b="b" t="t" l="l"/>
            <a:pathLst>
              <a:path h="1067615" w="895711">
                <a:moveTo>
                  <a:pt x="0" y="0"/>
                </a:moveTo>
                <a:lnTo>
                  <a:pt x="895711" y="0"/>
                </a:lnTo>
                <a:lnTo>
                  <a:pt x="895711" y="1067616"/>
                </a:lnTo>
                <a:lnTo>
                  <a:pt x="0" y="1067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67775" y="2000789"/>
            <a:ext cx="7584620" cy="5795718"/>
          </a:xfrm>
          <a:custGeom>
            <a:avLst/>
            <a:gdLst/>
            <a:ahLst/>
            <a:cxnLst/>
            <a:rect r="r" b="b" t="t" l="l"/>
            <a:pathLst>
              <a:path h="5795718" w="7584620">
                <a:moveTo>
                  <a:pt x="0" y="0"/>
                </a:moveTo>
                <a:lnTo>
                  <a:pt x="7584620" y="0"/>
                </a:lnTo>
                <a:lnTo>
                  <a:pt x="7584620" y="5795718"/>
                </a:lnTo>
                <a:lnTo>
                  <a:pt x="0" y="5795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90929" y="375231"/>
            <a:ext cx="1500362" cy="1450198"/>
          </a:xfrm>
          <a:custGeom>
            <a:avLst/>
            <a:gdLst/>
            <a:ahLst/>
            <a:cxnLst/>
            <a:rect r="r" b="b" t="t" l="l"/>
            <a:pathLst>
              <a:path h="1450198" w="1500362">
                <a:moveTo>
                  <a:pt x="0" y="0"/>
                </a:moveTo>
                <a:lnTo>
                  <a:pt x="1500362" y="0"/>
                </a:lnTo>
                <a:lnTo>
                  <a:pt x="1500362" y="1450198"/>
                </a:lnTo>
                <a:lnTo>
                  <a:pt x="0" y="1450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922" t="-18614" r="-14525" b="-1861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83964" y="375231"/>
            <a:ext cx="1506480" cy="1520081"/>
          </a:xfrm>
          <a:custGeom>
            <a:avLst/>
            <a:gdLst/>
            <a:ahLst/>
            <a:cxnLst/>
            <a:rect r="r" b="b" t="t" l="l"/>
            <a:pathLst>
              <a:path h="1520081" w="1506480">
                <a:moveTo>
                  <a:pt x="0" y="0"/>
                </a:moveTo>
                <a:lnTo>
                  <a:pt x="1506481" y="0"/>
                </a:lnTo>
                <a:lnTo>
                  <a:pt x="1506481" y="1520081"/>
                </a:lnTo>
                <a:lnTo>
                  <a:pt x="0" y="1520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36" t="-13744" r="-13188" b="-715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39670" y="305349"/>
            <a:ext cx="1445615" cy="1520081"/>
          </a:xfrm>
          <a:custGeom>
            <a:avLst/>
            <a:gdLst/>
            <a:ahLst/>
            <a:cxnLst/>
            <a:rect r="r" b="b" t="t" l="l"/>
            <a:pathLst>
              <a:path h="1520081" w="1445615">
                <a:moveTo>
                  <a:pt x="0" y="0"/>
                </a:moveTo>
                <a:lnTo>
                  <a:pt x="1445616" y="0"/>
                </a:lnTo>
                <a:lnTo>
                  <a:pt x="1445616" y="1520080"/>
                </a:lnTo>
                <a:lnTo>
                  <a:pt x="0" y="15200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953" t="-14903" r="-13129" b="-914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20911" y="340290"/>
            <a:ext cx="1520081" cy="1520081"/>
          </a:xfrm>
          <a:custGeom>
            <a:avLst/>
            <a:gdLst/>
            <a:ahLst/>
            <a:cxnLst/>
            <a:rect r="r" b="b" t="t" l="l"/>
            <a:pathLst>
              <a:path h="1520081" w="1520081">
                <a:moveTo>
                  <a:pt x="0" y="0"/>
                </a:moveTo>
                <a:lnTo>
                  <a:pt x="1520081" y="0"/>
                </a:lnTo>
                <a:lnTo>
                  <a:pt x="1520081" y="1520081"/>
                </a:lnTo>
                <a:lnTo>
                  <a:pt x="0" y="15200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2602" y="3840557"/>
            <a:ext cx="7234001" cy="13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7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SafeSpace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602" y="5089148"/>
            <a:ext cx="8357422" cy="5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Mental Health Companion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2700000">
            <a:off x="1673811" y="296445"/>
            <a:ext cx="6758411" cy="6758411"/>
          </a:xfrm>
          <a:custGeom>
            <a:avLst/>
            <a:gdLst/>
            <a:ahLst/>
            <a:cxnLst/>
            <a:rect r="r" b="b" t="t" l="l"/>
            <a:pathLst>
              <a:path h="6758411" w="6758411">
                <a:moveTo>
                  <a:pt x="0" y="0"/>
                </a:moveTo>
                <a:lnTo>
                  <a:pt x="6758410" y="0"/>
                </a:lnTo>
                <a:lnTo>
                  <a:pt x="6758410" y="6758411"/>
                </a:lnTo>
                <a:lnTo>
                  <a:pt x="0" y="67584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700000">
            <a:off x="1540889" y="2719510"/>
            <a:ext cx="6758411" cy="6758411"/>
          </a:xfrm>
          <a:custGeom>
            <a:avLst/>
            <a:gdLst/>
            <a:ahLst/>
            <a:cxnLst/>
            <a:rect r="r" b="b" t="t" l="l"/>
            <a:pathLst>
              <a:path h="6758411" w="6758411">
                <a:moveTo>
                  <a:pt x="0" y="0"/>
                </a:moveTo>
                <a:lnTo>
                  <a:pt x="6758411" y="0"/>
                </a:lnTo>
                <a:lnTo>
                  <a:pt x="6758411" y="6758410"/>
                </a:lnTo>
                <a:lnTo>
                  <a:pt x="0" y="67584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45823" y="2415454"/>
            <a:ext cx="6353541" cy="5123824"/>
          </a:xfrm>
          <a:custGeom>
            <a:avLst/>
            <a:gdLst/>
            <a:ahLst/>
            <a:cxnLst/>
            <a:rect r="r" b="b" t="t" l="l"/>
            <a:pathLst>
              <a:path h="5123824" w="6353541">
                <a:moveTo>
                  <a:pt x="0" y="0"/>
                </a:moveTo>
                <a:lnTo>
                  <a:pt x="6353541" y="0"/>
                </a:lnTo>
                <a:lnTo>
                  <a:pt x="6353541" y="5123824"/>
                </a:lnTo>
                <a:lnTo>
                  <a:pt x="0" y="5123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4711" y="3287838"/>
            <a:ext cx="6342752" cy="64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9"/>
              </a:lnSpc>
              <a:spcBef>
                <a:spcPct val="0"/>
              </a:spcBef>
            </a:pPr>
            <a:r>
              <a:rPr lang="en-US" sz="599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4412" y="4148946"/>
            <a:ext cx="7803349" cy="307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Millions of people struggle with stress, anxiety, and depression without access to proper support. SafeSpace is a free AI-powered mental health companion that helps users assess their mental well-being and receive personalized guidance in both Arabic and English.</a:t>
            </a: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30069" y="2098171"/>
            <a:ext cx="6988487" cy="5595357"/>
          </a:xfrm>
          <a:custGeom>
            <a:avLst/>
            <a:gdLst/>
            <a:ahLst/>
            <a:cxnLst/>
            <a:rect r="r" b="b" t="t" l="l"/>
            <a:pathLst>
              <a:path h="5595357" w="6988487">
                <a:moveTo>
                  <a:pt x="6988487" y="0"/>
                </a:moveTo>
                <a:lnTo>
                  <a:pt x="0" y="0"/>
                </a:lnTo>
                <a:lnTo>
                  <a:pt x="0" y="5595358"/>
                </a:lnTo>
                <a:lnTo>
                  <a:pt x="6988487" y="5595358"/>
                </a:lnTo>
                <a:lnTo>
                  <a:pt x="698848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1449" y="2671817"/>
            <a:ext cx="7418093" cy="10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59222" y="3624343"/>
            <a:ext cx="3702546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</a:t>
            </a:r>
            <a:r>
              <a:rPr lang="en-US" sz="3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SAFESPACE?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6629" y="4829175"/>
            <a:ext cx="11075722" cy="219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Rising rates of stress, anxiety, and depression.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Limited and costly mental health services.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Social stigma around seeking help.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Lack of Arab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ic-supported mental health platforms.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• </a:t>
            </a: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Need for accessible, AI-powered mental health support.</a:t>
            </a: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5107" y="1922849"/>
            <a:ext cx="8972138" cy="6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11541870" y="-3518001"/>
            <a:ext cx="10615320" cy="7961490"/>
            <a:chOff x="0" y="0"/>
            <a:chExt cx="8128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609600"/>
                  </a:moveTo>
                  <a:lnTo>
                    <a:pt x="609600" y="60960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6B38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57150"/>
              <a:ext cx="5588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41652" y="3854711"/>
            <a:ext cx="5275452" cy="5660991"/>
          </a:xfrm>
          <a:custGeom>
            <a:avLst/>
            <a:gdLst/>
            <a:ahLst/>
            <a:cxnLst/>
            <a:rect r="r" b="b" t="t" l="l"/>
            <a:pathLst>
              <a:path h="5660991" w="5275452">
                <a:moveTo>
                  <a:pt x="0" y="0"/>
                </a:moveTo>
                <a:lnTo>
                  <a:pt x="5275453" y="0"/>
                </a:lnTo>
                <a:lnTo>
                  <a:pt x="5275453" y="5660991"/>
                </a:lnTo>
                <a:lnTo>
                  <a:pt x="0" y="56609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52633" y="5199261"/>
            <a:ext cx="1754476" cy="1754476"/>
          </a:xfrm>
          <a:custGeom>
            <a:avLst/>
            <a:gdLst/>
            <a:ahLst/>
            <a:cxnLst/>
            <a:rect r="r" b="b" t="t" l="l"/>
            <a:pathLst>
              <a:path h="1754476" w="1754476">
                <a:moveTo>
                  <a:pt x="0" y="0"/>
                </a:moveTo>
                <a:lnTo>
                  <a:pt x="1754475" y="0"/>
                </a:lnTo>
                <a:lnTo>
                  <a:pt x="1754475" y="1754475"/>
                </a:lnTo>
                <a:lnTo>
                  <a:pt x="0" y="17544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90940" y="5143500"/>
            <a:ext cx="1754476" cy="1754476"/>
          </a:xfrm>
          <a:custGeom>
            <a:avLst/>
            <a:gdLst/>
            <a:ahLst/>
            <a:cxnLst/>
            <a:rect r="r" b="b" t="t" l="l"/>
            <a:pathLst>
              <a:path h="1754476" w="1754476">
                <a:moveTo>
                  <a:pt x="0" y="0"/>
                </a:moveTo>
                <a:lnTo>
                  <a:pt x="1754475" y="0"/>
                </a:lnTo>
                <a:lnTo>
                  <a:pt x="1754475" y="1754476"/>
                </a:lnTo>
                <a:lnTo>
                  <a:pt x="0" y="1754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28029" y="5199261"/>
            <a:ext cx="1754476" cy="1754476"/>
          </a:xfrm>
          <a:custGeom>
            <a:avLst/>
            <a:gdLst/>
            <a:ahLst/>
            <a:cxnLst/>
            <a:rect r="r" b="b" t="t" l="l"/>
            <a:pathLst>
              <a:path h="1754476" w="1754476">
                <a:moveTo>
                  <a:pt x="0" y="0"/>
                </a:moveTo>
                <a:lnTo>
                  <a:pt x="1754475" y="0"/>
                </a:lnTo>
                <a:lnTo>
                  <a:pt x="1754475" y="1754475"/>
                </a:lnTo>
                <a:lnTo>
                  <a:pt x="0" y="175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76274" y="5199261"/>
            <a:ext cx="1754476" cy="1754476"/>
          </a:xfrm>
          <a:custGeom>
            <a:avLst/>
            <a:gdLst/>
            <a:ahLst/>
            <a:cxnLst/>
            <a:rect r="r" b="b" t="t" l="l"/>
            <a:pathLst>
              <a:path h="1754476" w="1754476">
                <a:moveTo>
                  <a:pt x="0" y="0"/>
                </a:moveTo>
                <a:lnTo>
                  <a:pt x="1754476" y="0"/>
                </a:lnTo>
                <a:lnTo>
                  <a:pt x="1754476" y="1754475"/>
                </a:lnTo>
                <a:lnTo>
                  <a:pt x="0" y="175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87821" y="5800905"/>
            <a:ext cx="1084099" cy="9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7"/>
              </a:lnSpc>
              <a:spcBef>
                <a:spcPct val="0"/>
              </a:spcBef>
            </a:pPr>
            <a:r>
              <a:rPr lang="en-US" sz="8871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27308" y="5747096"/>
            <a:ext cx="1084099" cy="9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7"/>
              </a:lnSpc>
              <a:spcBef>
                <a:spcPct val="0"/>
              </a:spcBef>
            </a:pPr>
            <a:r>
              <a:rPr lang="en-US" sz="8871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3217" y="5802857"/>
            <a:ext cx="1084099" cy="9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7"/>
              </a:lnSpc>
              <a:spcBef>
                <a:spcPct val="0"/>
              </a:spcBef>
            </a:pPr>
            <a:r>
              <a:rPr lang="en-US" sz="8871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08394" y="5802857"/>
            <a:ext cx="1084099" cy="94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7"/>
              </a:lnSpc>
              <a:spcBef>
                <a:spcPct val="0"/>
              </a:spcBef>
            </a:pPr>
            <a:r>
              <a:rPr lang="en-US" sz="8871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72844" y="7325859"/>
            <a:ext cx="2761336" cy="81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Absence of real-time crisis detection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4282504" y="6096268"/>
            <a:ext cx="1413640" cy="0"/>
          </a:xfrm>
          <a:prstGeom prst="line">
            <a:avLst/>
          </a:prstGeom>
          <a:ln cap="rnd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200821" y="7325859"/>
            <a:ext cx="2408890" cy="81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 Arabic language support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4912" y="7325859"/>
            <a:ext cx="2408890" cy="81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Lack of root-cause analysis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1114389" y="6096268"/>
            <a:ext cx="1413640" cy="0"/>
          </a:xfrm>
          <a:prstGeom prst="line">
            <a:avLst/>
          </a:prstGeom>
          <a:ln cap="rnd" w="38100">
            <a:solidFill>
              <a:srgbClr val="F4F8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7977300" y="6040507"/>
            <a:ext cx="1413640" cy="0"/>
          </a:xfrm>
          <a:prstGeom prst="line">
            <a:avLst/>
          </a:prstGeom>
          <a:ln cap="rnd" w="38100">
            <a:solidFill>
              <a:srgbClr val="F3F8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5788555" y="7325859"/>
            <a:ext cx="3130356" cy="81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Inaccurate self-reported assessments</a:t>
            </a: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3757208" y="9258300"/>
            <a:ext cx="10615320" cy="7961490"/>
            <a:chOff x="0" y="0"/>
            <a:chExt cx="8128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609600"/>
                  </a:moveTo>
                  <a:lnTo>
                    <a:pt x="609600" y="609600"/>
                  </a:lnTo>
                  <a:lnTo>
                    <a:pt x="812800" y="0"/>
                  </a:lnTo>
                  <a:lnTo>
                    <a:pt x="0" y="0"/>
                  </a:lnTo>
                  <a:lnTo>
                    <a:pt x="203200" y="609600"/>
                  </a:lnTo>
                  <a:close/>
                </a:path>
              </a:pathLst>
            </a:custGeom>
            <a:solidFill>
              <a:srgbClr val="6B38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57150"/>
              <a:ext cx="558800" cy="666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1899" y="1017170"/>
            <a:ext cx="6306936" cy="8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sz="6000" spc="-330" strike="noStrike" u="none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OUR SOLUTIONS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439991">
            <a:off x="2164865" y="1993440"/>
            <a:ext cx="3461004" cy="3756857"/>
          </a:xfrm>
          <a:custGeom>
            <a:avLst/>
            <a:gdLst/>
            <a:ahLst/>
            <a:cxnLst/>
            <a:rect r="r" b="b" t="t" l="l"/>
            <a:pathLst>
              <a:path h="3756857" w="3461004">
                <a:moveTo>
                  <a:pt x="0" y="0"/>
                </a:moveTo>
                <a:lnTo>
                  <a:pt x="3461004" y="0"/>
                </a:lnTo>
                <a:lnTo>
                  <a:pt x="3461004" y="3756857"/>
                </a:lnTo>
                <a:lnTo>
                  <a:pt x="0" y="3756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8773" y="5767569"/>
            <a:ext cx="3242113" cy="3500256"/>
          </a:xfrm>
          <a:custGeom>
            <a:avLst/>
            <a:gdLst/>
            <a:ahLst/>
            <a:cxnLst/>
            <a:rect r="r" b="b" t="t" l="l"/>
            <a:pathLst>
              <a:path h="3500256" w="3242113">
                <a:moveTo>
                  <a:pt x="0" y="0"/>
                </a:moveTo>
                <a:lnTo>
                  <a:pt x="3242113" y="0"/>
                </a:lnTo>
                <a:lnTo>
                  <a:pt x="3242113" y="3500256"/>
                </a:lnTo>
                <a:lnTo>
                  <a:pt x="0" y="3500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71836">
            <a:off x="8396219" y="630938"/>
            <a:ext cx="7211260" cy="2399383"/>
          </a:xfrm>
          <a:custGeom>
            <a:avLst/>
            <a:gdLst/>
            <a:ahLst/>
            <a:cxnLst/>
            <a:rect r="r" b="b" t="t" l="l"/>
            <a:pathLst>
              <a:path h="2399383" w="7211260">
                <a:moveTo>
                  <a:pt x="0" y="0"/>
                </a:moveTo>
                <a:lnTo>
                  <a:pt x="7211260" y="0"/>
                </a:lnTo>
                <a:lnTo>
                  <a:pt x="7211260" y="2399383"/>
                </a:lnTo>
                <a:lnTo>
                  <a:pt x="0" y="2399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271836">
            <a:off x="9628133" y="1294153"/>
            <a:ext cx="5810975" cy="10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elligent Mental Health Assessment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312848">
            <a:off x="9456932" y="4194578"/>
            <a:ext cx="7211260" cy="2399383"/>
          </a:xfrm>
          <a:custGeom>
            <a:avLst/>
            <a:gdLst/>
            <a:ahLst/>
            <a:cxnLst/>
            <a:rect r="r" b="b" t="t" l="l"/>
            <a:pathLst>
              <a:path h="2399383" w="7211260">
                <a:moveTo>
                  <a:pt x="0" y="0"/>
                </a:moveTo>
                <a:lnTo>
                  <a:pt x="7211260" y="0"/>
                </a:lnTo>
                <a:lnTo>
                  <a:pt x="7211260" y="2399383"/>
                </a:lnTo>
                <a:lnTo>
                  <a:pt x="0" y="2399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351311">
            <a:off x="10869218" y="4833240"/>
            <a:ext cx="55597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ersonalized Recommendation System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38627">
            <a:off x="8065931" y="7393363"/>
            <a:ext cx="7211260" cy="2399383"/>
          </a:xfrm>
          <a:custGeom>
            <a:avLst/>
            <a:gdLst/>
            <a:ahLst/>
            <a:cxnLst/>
            <a:rect r="r" b="b" t="t" l="l"/>
            <a:pathLst>
              <a:path h="2399383" w="7211260">
                <a:moveTo>
                  <a:pt x="0" y="0"/>
                </a:moveTo>
                <a:lnTo>
                  <a:pt x="7211260" y="0"/>
                </a:lnTo>
                <a:lnTo>
                  <a:pt x="7211260" y="2399383"/>
                </a:lnTo>
                <a:lnTo>
                  <a:pt x="0" y="2399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138627">
            <a:off x="9382132" y="8012040"/>
            <a:ext cx="5882552" cy="10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ontinuous Monitoring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Early Detection</a:t>
            </a: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975" y="256599"/>
            <a:ext cx="3145270" cy="2411991"/>
            <a:chOff x="0" y="0"/>
            <a:chExt cx="1234171" cy="946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4171" cy="946440"/>
            </a:xfrm>
            <a:custGeom>
              <a:avLst/>
              <a:gdLst/>
              <a:ahLst/>
              <a:cxnLst/>
              <a:rect r="r" b="b" t="t" l="l"/>
              <a:pathLst>
                <a:path h="946440" w="1234171">
                  <a:moveTo>
                    <a:pt x="0" y="0"/>
                  </a:moveTo>
                  <a:lnTo>
                    <a:pt x="1234171" y="0"/>
                  </a:lnTo>
                  <a:lnTo>
                    <a:pt x="1234171" y="946440"/>
                  </a:lnTo>
                  <a:lnTo>
                    <a:pt x="0" y="94644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B38F2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34171" cy="100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61870"/>
            <a:ext cx="2764485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Input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851" y="1166720"/>
            <a:ext cx="2764485" cy="8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Survey (42Q)</a:t>
            </a:r>
          </a:p>
          <a:p>
            <a:pPr algn="ctr">
              <a:lnSpc>
                <a:spcPts val="33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+ Free text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495540" y="256599"/>
            <a:ext cx="3145270" cy="2411991"/>
            <a:chOff x="0" y="0"/>
            <a:chExt cx="1234171" cy="946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4171" cy="946440"/>
            </a:xfrm>
            <a:custGeom>
              <a:avLst/>
              <a:gdLst/>
              <a:ahLst/>
              <a:cxnLst/>
              <a:rect r="r" b="b" t="t" l="l"/>
              <a:pathLst>
                <a:path h="946440" w="1234171">
                  <a:moveTo>
                    <a:pt x="0" y="0"/>
                  </a:moveTo>
                  <a:lnTo>
                    <a:pt x="1234171" y="0"/>
                  </a:lnTo>
                  <a:lnTo>
                    <a:pt x="1234171" y="946440"/>
                  </a:lnTo>
                  <a:lnTo>
                    <a:pt x="0" y="946440"/>
                  </a:lnTo>
                  <a:close/>
                </a:path>
              </a:pathLst>
            </a:custGeom>
            <a:solidFill>
              <a:srgbClr val="4E2DA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34171" cy="100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685932" y="633295"/>
            <a:ext cx="2764485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Survey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85932" y="1166720"/>
            <a:ext cx="276448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Dense NN</a:t>
            </a:r>
          </a:p>
          <a:p>
            <a:pPr algn="ctr">
              <a:lnSpc>
                <a:spcPts val="33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DASS-42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290636" y="1175521"/>
            <a:ext cx="898513" cy="561418"/>
          </a:xfrm>
          <a:custGeom>
            <a:avLst/>
            <a:gdLst/>
            <a:ahLst/>
            <a:cxnLst/>
            <a:rect r="r" b="b" t="t" l="l"/>
            <a:pathLst>
              <a:path h="561418" w="898513">
                <a:moveTo>
                  <a:pt x="0" y="0"/>
                </a:moveTo>
                <a:lnTo>
                  <a:pt x="898513" y="0"/>
                </a:lnTo>
                <a:lnTo>
                  <a:pt x="898513" y="561419"/>
                </a:lnTo>
                <a:lnTo>
                  <a:pt x="0" y="561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68807">
            <a:off x="6615710" y="2999531"/>
            <a:ext cx="904929" cy="565427"/>
          </a:xfrm>
          <a:custGeom>
            <a:avLst/>
            <a:gdLst/>
            <a:ahLst/>
            <a:cxnLst/>
            <a:rect r="r" b="b" t="t" l="l"/>
            <a:pathLst>
              <a:path h="565427" w="904929">
                <a:moveTo>
                  <a:pt x="0" y="0"/>
                </a:moveTo>
                <a:lnTo>
                  <a:pt x="904929" y="0"/>
                </a:lnTo>
                <a:lnTo>
                  <a:pt x="904929" y="565427"/>
                </a:lnTo>
                <a:lnTo>
                  <a:pt x="0" y="565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40458" y="3895900"/>
            <a:ext cx="3145270" cy="2412040"/>
            <a:chOff x="0" y="0"/>
            <a:chExt cx="4193694" cy="32160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193694" cy="3216054"/>
              <a:chOff x="0" y="0"/>
              <a:chExt cx="1234171" cy="94646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34171" cy="946459"/>
              </a:xfrm>
              <a:custGeom>
                <a:avLst/>
                <a:gdLst/>
                <a:ahLst/>
                <a:cxnLst/>
                <a:rect r="r" b="b" t="t" l="l"/>
                <a:pathLst>
                  <a:path h="946459" w="1234171">
                    <a:moveTo>
                      <a:pt x="0" y="0"/>
                    </a:moveTo>
                    <a:lnTo>
                      <a:pt x="1234171" y="0"/>
                    </a:lnTo>
                    <a:lnTo>
                      <a:pt x="1234171" y="946459"/>
                    </a:lnTo>
                    <a:lnTo>
                      <a:pt x="0" y="946459"/>
                    </a:lnTo>
                    <a:close/>
                  </a:path>
                </a:pathLst>
              </a:custGeom>
              <a:solidFill>
                <a:srgbClr val="4E2DA4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1234171" cy="10036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37059" y="660025"/>
              <a:ext cx="3685981" cy="563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Fusion Layer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7436" y="1389308"/>
              <a:ext cx="4056258" cy="1079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Weighted avg=</a:t>
              </a:r>
            </a:p>
            <a:p>
              <a:pPr algn="ctr">
                <a:lnSpc>
                  <a:spcPts val="33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40%. NLP + 60% .</a:t>
              </a: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Survey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8400" y="3895900"/>
            <a:ext cx="3145270" cy="2412040"/>
            <a:chOff x="0" y="0"/>
            <a:chExt cx="4193694" cy="321605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193694" cy="3216054"/>
              <a:chOff x="0" y="0"/>
              <a:chExt cx="1234171" cy="94646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34171" cy="946459"/>
              </a:xfrm>
              <a:custGeom>
                <a:avLst/>
                <a:gdLst/>
                <a:ahLst/>
                <a:cxnLst/>
                <a:rect r="r" b="b" t="t" l="l"/>
                <a:pathLst>
                  <a:path h="946459" w="1234171">
                    <a:moveTo>
                      <a:pt x="0" y="0"/>
                    </a:moveTo>
                    <a:lnTo>
                      <a:pt x="1234171" y="0"/>
                    </a:lnTo>
                    <a:lnTo>
                      <a:pt x="1234171" y="946459"/>
                    </a:lnTo>
                    <a:lnTo>
                      <a:pt x="0" y="946459"/>
                    </a:lnTo>
                    <a:close/>
                  </a:path>
                </a:pathLst>
              </a:custGeom>
              <a:solidFill>
                <a:srgbClr val="F3F8FF"/>
              </a:solidFill>
              <a:ln w="38100" cap="sq">
                <a:solidFill>
                  <a:srgbClr val="6B38F2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234171" cy="10036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53857" y="660025"/>
              <a:ext cx="3685981" cy="563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70"/>
                </a:lnSpc>
              </a:pPr>
              <a:r>
                <a:rPr lang="en-US" b="true" sz="3000">
                  <a:solidFill>
                    <a:srgbClr val="0F13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NLP Model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52966" y="1398876"/>
              <a:ext cx="3685981" cy="1079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en-US" b="true" sz="2000">
                  <a:solidFill>
                    <a:srgbClr val="0F13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XLM-RoBERTa</a:t>
              </a:r>
            </a:p>
            <a:p>
              <a:pPr algn="ctr">
                <a:lnSpc>
                  <a:spcPts val="3300"/>
                </a:lnSpc>
              </a:pPr>
              <a:r>
                <a:rPr lang="en-US" sz="2000">
                  <a:solidFill>
                    <a:srgbClr val="0F132D"/>
                  </a:solidFill>
                  <a:latin typeface="Poppins"/>
                  <a:ea typeface="Poppins"/>
                  <a:cs typeface="Poppins"/>
                  <a:sym typeface="Poppins"/>
                </a:rPr>
                <a:t>(</a:t>
              </a:r>
              <a:r>
                <a:rPr lang="en-US" b="true" sz="2000">
                  <a:solidFill>
                    <a:srgbClr val="0F13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2000">
                  <a:solidFill>
                    <a:srgbClr val="0F132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rabic + English)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8975" y="7618410"/>
            <a:ext cx="3145270" cy="2411991"/>
            <a:chOff x="0" y="0"/>
            <a:chExt cx="1234171" cy="946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34171" cy="946440"/>
            </a:xfrm>
            <a:custGeom>
              <a:avLst/>
              <a:gdLst/>
              <a:ahLst/>
              <a:cxnLst/>
              <a:rect r="r" b="b" t="t" l="l"/>
              <a:pathLst>
                <a:path h="946440" w="1234171">
                  <a:moveTo>
                    <a:pt x="0" y="0"/>
                  </a:moveTo>
                  <a:lnTo>
                    <a:pt x="1234171" y="0"/>
                  </a:lnTo>
                  <a:lnTo>
                    <a:pt x="1234171" y="946440"/>
                  </a:lnTo>
                  <a:lnTo>
                    <a:pt x="0" y="94644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B38F2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34171" cy="1003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9368" y="8142758"/>
            <a:ext cx="2764485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9368" y="8701109"/>
            <a:ext cx="2764485" cy="8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Scores +</a:t>
            </a:r>
          </a:p>
          <a:p>
            <a:pPr algn="ctr">
              <a:lnSpc>
                <a:spcPts val="33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-10800000">
            <a:off x="4282630" y="4867963"/>
            <a:ext cx="904929" cy="565427"/>
          </a:xfrm>
          <a:custGeom>
            <a:avLst/>
            <a:gdLst/>
            <a:ahLst/>
            <a:cxnLst/>
            <a:rect r="r" b="b" t="t" l="l"/>
            <a:pathLst>
              <a:path h="565427" w="904929">
                <a:moveTo>
                  <a:pt x="0" y="0"/>
                </a:moveTo>
                <a:lnTo>
                  <a:pt x="904929" y="0"/>
                </a:lnTo>
                <a:lnTo>
                  <a:pt x="904929" y="565427"/>
                </a:lnTo>
                <a:lnTo>
                  <a:pt x="0" y="565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68807">
            <a:off x="1959146" y="6680437"/>
            <a:ext cx="904929" cy="565427"/>
          </a:xfrm>
          <a:custGeom>
            <a:avLst/>
            <a:gdLst/>
            <a:ahLst/>
            <a:cxnLst/>
            <a:rect r="r" b="b" t="t" l="l"/>
            <a:pathLst>
              <a:path h="565427" w="904929">
                <a:moveTo>
                  <a:pt x="0" y="0"/>
                </a:moveTo>
                <a:lnTo>
                  <a:pt x="904929" y="0"/>
                </a:lnTo>
                <a:lnTo>
                  <a:pt x="904929" y="565427"/>
                </a:lnTo>
                <a:lnTo>
                  <a:pt x="0" y="565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5400000">
            <a:off x="11160454" y="4582888"/>
            <a:ext cx="8418995" cy="4293046"/>
          </a:xfrm>
          <a:custGeom>
            <a:avLst/>
            <a:gdLst/>
            <a:ahLst/>
            <a:cxnLst/>
            <a:rect r="r" b="b" t="t" l="l"/>
            <a:pathLst>
              <a:path h="4293046" w="8418995">
                <a:moveTo>
                  <a:pt x="0" y="0"/>
                </a:moveTo>
                <a:lnTo>
                  <a:pt x="8418995" y="0"/>
                </a:lnTo>
                <a:lnTo>
                  <a:pt x="8418995" y="4293047"/>
                </a:lnTo>
                <a:lnTo>
                  <a:pt x="0" y="4293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5400000">
            <a:off x="7449883" y="1125109"/>
            <a:ext cx="8418995" cy="4293046"/>
          </a:xfrm>
          <a:custGeom>
            <a:avLst/>
            <a:gdLst/>
            <a:ahLst/>
            <a:cxnLst/>
            <a:rect r="r" b="b" t="t" l="l"/>
            <a:pathLst>
              <a:path h="4293046" w="8418995">
                <a:moveTo>
                  <a:pt x="0" y="0"/>
                </a:moveTo>
                <a:lnTo>
                  <a:pt x="8418995" y="0"/>
                </a:lnTo>
                <a:lnTo>
                  <a:pt x="8418995" y="4293046"/>
                </a:lnTo>
                <a:lnTo>
                  <a:pt x="0" y="42930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true" rot="-5400000">
            <a:off x="10493248" y="847783"/>
            <a:ext cx="6375083" cy="6708109"/>
          </a:xfrm>
          <a:custGeom>
            <a:avLst/>
            <a:gdLst/>
            <a:ahLst/>
            <a:cxnLst/>
            <a:rect r="r" b="b" t="t" l="l"/>
            <a:pathLst>
              <a:path h="6708109" w="6375083">
                <a:moveTo>
                  <a:pt x="0" y="6708109"/>
                </a:moveTo>
                <a:lnTo>
                  <a:pt x="6375083" y="6708109"/>
                </a:lnTo>
                <a:lnTo>
                  <a:pt x="6375083" y="0"/>
                </a:lnTo>
                <a:lnTo>
                  <a:pt x="0" y="0"/>
                </a:lnTo>
                <a:lnTo>
                  <a:pt x="0" y="6708109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638751" y="8361833"/>
            <a:ext cx="11131256" cy="73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b="true" sz="6000" spc="-179">
                <a:solidFill>
                  <a:srgbClr val="6B38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ARCHTICTURE</a:t>
            </a: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37642" y="1775807"/>
            <a:ext cx="3859958" cy="8169802"/>
            <a:chOff x="0" y="0"/>
            <a:chExt cx="2947933" cy="6239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7933" cy="6239455"/>
            </a:xfrm>
            <a:custGeom>
              <a:avLst/>
              <a:gdLst/>
              <a:ahLst/>
              <a:cxnLst/>
              <a:rect r="r" b="b" t="t" l="l"/>
              <a:pathLst>
                <a:path h="6239455" w="2947933">
                  <a:moveTo>
                    <a:pt x="76217" y="0"/>
                  </a:moveTo>
                  <a:lnTo>
                    <a:pt x="2871717" y="0"/>
                  </a:lnTo>
                  <a:cubicBezTo>
                    <a:pt x="2913810" y="0"/>
                    <a:pt x="2947933" y="34123"/>
                    <a:pt x="2947933" y="76217"/>
                  </a:cubicBezTo>
                  <a:lnTo>
                    <a:pt x="2947933" y="6163239"/>
                  </a:lnTo>
                  <a:cubicBezTo>
                    <a:pt x="2947933" y="6205332"/>
                    <a:pt x="2913810" y="6239455"/>
                    <a:pt x="2871717" y="6239455"/>
                  </a:cubicBezTo>
                  <a:lnTo>
                    <a:pt x="76217" y="6239455"/>
                  </a:lnTo>
                  <a:cubicBezTo>
                    <a:pt x="34123" y="6239455"/>
                    <a:pt x="0" y="6205332"/>
                    <a:pt x="0" y="6163239"/>
                  </a:cubicBezTo>
                  <a:lnTo>
                    <a:pt x="0" y="76217"/>
                  </a:lnTo>
                  <a:cubicBezTo>
                    <a:pt x="0" y="34123"/>
                    <a:pt x="34123" y="0"/>
                    <a:pt x="7621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96" r="0" b="-24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77914" y="1476350"/>
            <a:ext cx="2979414" cy="47625"/>
            <a:chOff x="0" y="0"/>
            <a:chExt cx="784702" cy="1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4702" cy="12543"/>
            </a:xfrm>
            <a:custGeom>
              <a:avLst/>
              <a:gdLst/>
              <a:ahLst/>
              <a:cxnLst/>
              <a:rect r="r" b="b" t="t" l="l"/>
              <a:pathLst>
                <a:path h="12543" w="784702">
                  <a:moveTo>
                    <a:pt x="6272" y="0"/>
                  </a:moveTo>
                  <a:lnTo>
                    <a:pt x="778430" y="0"/>
                  </a:lnTo>
                  <a:cubicBezTo>
                    <a:pt x="780093" y="0"/>
                    <a:pt x="781689" y="661"/>
                    <a:pt x="782865" y="1837"/>
                  </a:cubicBezTo>
                  <a:cubicBezTo>
                    <a:pt x="784041" y="3013"/>
                    <a:pt x="784702" y="4608"/>
                    <a:pt x="784702" y="6272"/>
                  </a:cubicBezTo>
                  <a:lnTo>
                    <a:pt x="784702" y="6272"/>
                  </a:lnTo>
                  <a:cubicBezTo>
                    <a:pt x="784702" y="7935"/>
                    <a:pt x="784041" y="9530"/>
                    <a:pt x="782865" y="10706"/>
                  </a:cubicBezTo>
                  <a:cubicBezTo>
                    <a:pt x="781689" y="11882"/>
                    <a:pt x="780093" y="12543"/>
                    <a:pt x="778430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8470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43841" y="619150"/>
            <a:ext cx="5200318" cy="8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LIVE DEMO</a:t>
            </a: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936" y="3838431"/>
            <a:ext cx="18112128" cy="277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1"/>
              </a:lnSpc>
            </a:pP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MENTAL HEALTH AI</a:t>
            </a:r>
          </a:p>
          <a:p>
            <a:pPr algn="ctr">
              <a:lnSpc>
                <a:spcPts val="8361"/>
              </a:lnSpc>
            </a:pPr>
          </a:p>
          <a:p>
            <a:pPr algn="ctr" marL="0" indent="0" lvl="0">
              <a:lnSpc>
                <a:spcPts val="5161"/>
              </a:lnSpc>
            </a:pPr>
            <a:r>
              <a:rPr lang="en-US" sz="51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AI</a:t>
            </a:r>
            <a:r>
              <a:rPr lang="en-US" sz="51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-powered Psychological Assessment System</a:t>
            </a:r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852" y="2996679"/>
            <a:ext cx="8954072" cy="67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5"/>
              </a:lnSpc>
            </a:pPr>
            <a:r>
              <a:rPr lang="en-US" sz="6099" spc="-182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PREPROCESSING 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0377560" y="1756371"/>
            <a:ext cx="9183359" cy="9824843"/>
          </a:xfrm>
          <a:custGeom>
            <a:avLst/>
            <a:gdLst/>
            <a:ahLst/>
            <a:cxnLst/>
            <a:rect r="r" b="b" t="t" l="l"/>
            <a:pathLst>
              <a:path h="9824843" w="9183359">
                <a:moveTo>
                  <a:pt x="9183359" y="0"/>
                </a:moveTo>
                <a:lnTo>
                  <a:pt x="0" y="0"/>
                </a:lnTo>
                <a:lnTo>
                  <a:pt x="0" y="9824844"/>
                </a:lnTo>
                <a:lnTo>
                  <a:pt x="9183359" y="9824844"/>
                </a:lnTo>
                <a:lnTo>
                  <a:pt x="91833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77560" y="803461"/>
            <a:ext cx="1468964" cy="1468964"/>
          </a:xfrm>
          <a:custGeom>
            <a:avLst/>
            <a:gdLst/>
            <a:ahLst/>
            <a:cxnLst/>
            <a:rect r="r" b="b" t="t" l="l"/>
            <a:pathLst>
              <a:path h="1468964" w="1468964">
                <a:moveTo>
                  <a:pt x="0" y="0"/>
                </a:moveTo>
                <a:lnTo>
                  <a:pt x="1468965" y="0"/>
                </a:lnTo>
                <a:lnTo>
                  <a:pt x="1468965" y="1468964"/>
                </a:lnTo>
                <a:lnTo>
                  <a:pt x="0" y="1468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30480" y="6700270"/>
            <a:ext cx="4217067" cy="1947123"/>
            <a:chOff x="0" y="0"/>
            <a:chExt cx="2564182" cy="11839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4182" cy="1183946"/>
            </a:xfrm>
            <a:custGeom>
              <a:avLst/>
              <a:gdLst/>
              <a:ahLst/>
              <a:cxnLst/>
              <a:rect r="r" b="b" t="t" l="l"/>
              <a:pathLst>
                <a:path h="1183946" w="2564182">
                  <a:moveTo>
                    <a:pt x="0" y="0"/>
                  </a:moveTo>
                  <a:lnTo>
                    <a:pt x="2564182" y="0"/>
                  </a:lnTo>
                  <a:lnTo>
                    <a:pt x="2564182" y="1183946"/>
                  </a:lnTo>
                  <a:lnTo>
                    <a:pt x="0" y="1183946"/>
                  </a:lnTo>
                  <a:close/>
                </a:path>
              </a:pathLst>
            </a:custGeom>
            <a:solidFill>
              <a:srgbClr val="4E2DA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564182" cy="1241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19022" y="6716034"/>
            <a:ext cx="4217067" cy="1931358"/>
            <a:chOff x="0" y="0"/>
            <a:chExt cx="2564182" cy="1174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4182" cy="1174360"/>
            </a:xfrm>
            <a:custGeom>
              <a:avLst/>
              <a:gdLst/>
              <a:ahLst/>
              <a:cxnLst/>
              <a:rect r="r" b="b" t="t" l="l"/>
              <a:pathLst>
                <a:path h="1174360" w="2564182">
                  <a:moveTo>
                    <a:pt x="0" y="0"/>
                  </a:moveTo>
                  <a:lnTo>
                    <a:pt x="2564182" y="0"/>
                  </a:lnTo>
                  <a:lnTo>
                    <a:pt x="2564182" y="1174360"/>
                  </a:lnTo>
                  <a:lnTo>
                    <a:pt x="0" y="1174360"/>
                  </a:lnTo>
                  <a:close/>
                </a:path>
              </a:pathLst>
            </a:custGeom>
            <a:solidFill>
              <a:srgbClr val="4E2DA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64182" cy="1231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01355" y="4499622"/>
            <a:ext cx="4217067" cy="1884833"/>
            <a:chOff x="0" y="0"/>
            <a:chExt cx="2564182" cy="1146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4182" cy="1146070"/>
            </a:xfrm>
            <a:custGeom>
              <a:avLst/>
              <a:gdLst/>
              <a:ahLst/>
              <a:cxnLst/>
              <a:rect r="r" b="b" t="t" l="l"/>
              <a:pathLst>
                <a:path h="1146070" w="2564182">
                  <a:moveTo>
                    <a:pt x="0" y="0"/>
                  </a:moveTo>
                  <a:lnTo>
                    <a:pt x="2564182" y="0"/>
                  </a:lnTo>
                  <a:lnTo>
                    <a:pt x="2564182" y="1146070"/>
                  </a:lnTo>
                  <a:lnTo>
                    <a:pt x="0" y="1146070"/>
                  </a:lnTo>
                  <a:close/>
                </a:path>
              </a:pathLst>
            </a:custGeom>
            <a:solidFill>
              <a:srgbClr val="4E2DA4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64182" cy="1203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47016" y="6764872"/>
            <a:ext cx="1783994" cy="8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39,775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8142" y="7744018"/>
            <a:ext cx="4101744" cy="58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Survey samples</a:t>
            </a:r>
          </a:p>
          <a:p>
            <a:pPr algn="ctr">
              <a:lnSpc>
                <a:spcPts val="2177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DASS-42 open dataset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5558" y="6764872"/>
            <a:ext cx="1783994" cy="8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59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29,361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76683" y="7605918"/>
            <a:ext cx="4101744" cy="85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NLP text samples</a:t>
            </a:r>
          </a:p>
          <a:p>
            <a:pPr algn="ctr">
              <a:lnSpc>
                <a:spcPts val="2177"/>
              </a:lnSpc>
            </a:pPr>
            <a:r>
              <a:rPr lang="en-US" sz="2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MentalHealth-Darija 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17891" y="4789170"/>
            <a:ext cx="1783994" cy="40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7"/>
              </a:lnSpc>
            </a:pPr>
            <a:r>
              <a:rPr lang="en-US" sz="283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 Classes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59017" y="5539096"/>
            <a:ext cx="4101744" cy="29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8"/>
              </a:lnSpc>
            </a:pPr>
            <a:r>
              <a:rPr lang="en-US" sz="219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Depression · Anxiety · Stress</a:t>
            </a:r>
          </a:p>
        </p:txBody>
      </p:sp>
    </p:spTree>
  </p:cSld>
  <p:clrMapOvr>
    <a:masterClrMapping/>
  </p:clrMapOvr>
  <p:transition spd="slow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75379" y="-891138"/>
            <a:ext cx="7024991" cy="7024991"/>
          </a:xfrm>
          <a:custGeom>
            <a:avLst/>
            <a:gdLst/>
            <a:ahLst/>
            <a:cxnLst/>
            <a:rect r="r" b="b" t="t" l="l"/>
            <a:pathLst>
              <a:path h="7024991" w="7024991">
                <a:moveTo>
                  <a:pt x="0" y="0"/>
                </a:moveTo>
                <a:lnTo>
                  <a:pt x="7024992" y="0"/>
                </a:lnTo>
                <a:lnTo>
                  <a:pt x="7024992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251629" y="1028700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3632548" y="0"/>
                </a:moveTo>
                <a:lnTo>
                  <a:pt x="0" y="0"/>
                </a:lnTo>
                <a:lnTo>
                  <a:pt x="0" y="8229600"/>
                </a:lnTo>
                <a:lnTo>
                  <a:pt x="3632548" y="8229600"/>
                </a:lnTo>
                <a:lnTo>
                  <a:pt x="363254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3287129" y="4548826"/>
            <a:ext cx="10387235" cy="5296699"/>
          </a:xfrm>
          <a:custGeom>
            <a:avLst/>
            <a:gdLst/>
            <a:ahLst/>
            <a:cxnLst/>
            <a:rect r="r" b="b" t="t" l="l"/>
            <a:pathLst>
              <a:path h="5296699" w="10387235">
                <a:moveTo>
                  <a:pt x="0" y="0"/>
                </a:moveTo>
                <a:lnTo>
                  <a:pt x="10387235" y="0"/>
                </a:lnTo>
                <a:lnTo>
                  <a:pt x="10387235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4371" y="3082376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0" y="0"/>
                </a:moveTo>
                <a:lnTo>
                  <a:pt x="3632548" y="0"/>
                </a:lnTo>
                <a:lnTo>
                  <a:pt x="3632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583432" y="2499811"/>
            <a:ext cx="3121136" cy="47625"/>
            <a:chOff x="0" y="0"/>
            <a:chExt cx="822028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028" cy="12543"/>
            </a:xfrm>
            <a:custGeom>
              <a:avLst/>
              <a:gdLst/>
              <a:ahLst/>
              <a:cxnLst/>
              <a:rect r="r" b="b" t="t" l="l"/>
              <a:pathLst>
                <a:path h="12543" w="822028">
                  <a:moveTo>
                    <a:pt x="6272" y="0"/>
                  </a:moveTo>
                  <a:lnTo>
                    <a:pt x="815756" y="0"/>
                  </a:lnTo>
                  <a:cubicBezTo>
                    <a:pt x="817419" y="0"/>
                    <a:pt x="819015" y="661"/>
                    <a:pt x="820191" y="1837"/>
                  </a:cubicBezTo>
                  <a:cubicBezTo>
                    <a:pt x="821367" y="3013"/>
                    <a:pt x="822028" y="4608"/>
                    <a:pt x="822028" y="6272"/>
                  </a:cubicBezTo>
                  <a:lnTo>
                    <a:pt x="822028" y="6272"/>
                  </a:lnTo>
                  <a:cubicBezTo>
                    <a:pt x="822028" y="7935"/>
                    <a:pt x="821367" y="9530"/>
                    <a:pt x="820191" y="10706"/>
                  </a:cubicBezTo>
                  <a:cubicBezTo>
                    <a:pt x="819015" y="11882"/>
                    <a:pt x="817419" y="12543"/>
                    <a:pt x="81575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202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832689" y="3297161"/>
            <a:ext cx="2960443" cy="2962211"/>
          </a:xfrm>
          <a:custGeom>
            <a:avLst/>
            <a:gdLst/>
            <a:ahLst/>
            <a:cxnLst/>
            <a:rect r="r" b="b" t="t" l="l"/>
            <a:pathLst>
              <a:path h="2962211" w="2960443">
                <a:moveTo>
                  <a:pt x="0" y="0"/>
                </a:moveTo>
                <a:lnTo>
                  <a:pt x="2960442" y="0"/>
                </a:lnTo>
                <a:lnTo>
                  <a:pt x="2960442" y="2962212"/>
                </a:lnTo>
                <a:lnTo>
                  <a:pt x="0" y="2962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94869" y="3297161"/>
            <a:ext cx="2960443" cy="2962211"/>
          </a:xfrm>
          <a:custGeom>
            <a:avLst/>
            <a:gdLst/>
            <a:ahLst/>
            <a:cxnLst/>
            <a:rect r="r" b="b" t="t" l="l"/>
            <a:pathLst>
              <a:path h="2962211" w="2960443">
                <a:moveTo>
                  <a:pt x="0" y="0"/>
                </a:moveTo>
                <a:lnTo>
                  <a:pt x="2960442" y="0"/>
                </a:lnTo>
                <a:lnTo>
                  <a:pt x="2960442" y="2962212"/>
                </a:lnTo>
                <a:lnTo>
                  <a:pt x="0" y="2962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391446" y="4164296"/>
            <a:ext cx="993024" cy="85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635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172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94193" y="1707331"/>
            <a:ext cx="7099615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SURVEY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2507" y="5148172"/>
            <a:ext cx="1830903" cy="59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sz="227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Original columns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38009" y="5052107"/>
            <a:ext cx="2281254" cy="59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sz="227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respondents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29067" y="4164300"/>
            <a:ext cx="2099138" cy="85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635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39,775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505899" y="6666076"/>
            <a:ext cx="2960443" cy="2962211"/>
          </a:xfrm>
          <a:custGeom>
            <a:avLst/>
            <a:gdLst/>
            <a:ahLst/>
            <a:cxnLst/>
            <a:rect r="r" b="b" t="t" l="l"/>
            <a:pathLst>
              <a:path h="2962211" w="2960443">
                <a:moveTo>
                  <a:pt x="0" y="0"/>
                </a:moveTo>
                <a:lnTo>
                  <a:pt x="2960443" y="0"/>
                </a:lnTo>
                <a:lnTo>
                  <a:pt x="2960443" y="2962212"/>
                </a:lnTo>
                <a:lnTo>
                  <a:pt x="0" y="2962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669449" y="7537528"/>
            <a:ext cx="531787" cy="85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  <a:r>
              <a:rPr lang="en-US" sz="635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42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75979" y="8408028"/>
            <a:ext cx="2118727" cy="59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8"/>
              </a:lnSpc>
            </a:pPr>
            <a:r>
              <a:rPr lang="en-US" sz="227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columns used</a:t>
            </a:r>
          </a:p>
        </p:txBody>
      </p:sp>
    </p:spTree>
  </p:cSld>
  <p:clrMapOvr>
    <a:masterClrMapping/>
  </p:clrMapOvr>
  <p:transition spd="slow">
    <p:wipe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93300" y="3532059"/>
            <a:ext cx="3121136" cy="47625"/>
            <a:chOff x="0" y="0"/>
            <a:chExt cx="822028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028" cy="12543"/>
            </a:xfrm>
            <a:custGeom>
              <a:avLst/>
              <a:gdLst/>
              <a:ahLst/>
              <a:cxnLst/>
              <a:rect r="r" b="b" t="t" l="l"/>
              <a:pathLst>
                <a:path h="12543" w="822028">
                  <a:moveTo>
                    <a:pt x="6272" y="0"/>
                  </a:moveTo>
                  <a:lnTo>
                    <a:pt x="815756" y="0"/>
                  </a:lnTo>
                  <a:cubicBezTo>
                    <a:pt x="817419" y="0"/>
                    <a:pt x="819015" y="661"/>
                    <a:pt x="820191" y="1837"/>
                  </a:cubicBezTo>
                  <a:cubicBezTo>
                    <a:pt x="821367" y="3013"/>
                    <a:pt x="822028" y="4608"/>
                    <a:pt x="822028" y="6272"/>
                  </a:cubicBezTo>
                  <a:lnTo>
                    <a:pt x="822028" y="6272"/>
                  </a:lnTo>
                  <a:cubicBezTo>
                    <a:pt x="822028" y="7935"/>
                    <a:pt x="821367" y="9530"/>
                    <a:pt x="820191" y="10706"/>
                  </a:cubicBezTo>
                  <a:cubicBezTo>
                    <a:pt x="819015" y="11882"/>
                    <a:pt x="817419" y="12543"/>
                    <a:pt x="81575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202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712069" y="-4649916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04061" y="2697130"/>
            <a:ext cx="7099615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SURVEY MODEL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22627" y="884725"/>
            <a:ext cx="6513421" cy="8517550"/>
          </a:xfrm>
          <a:custGeom>
            <a:avLst/>
            <a:gdLst/>
            <a:ahLst/>
            <a:cxnLst/>
            <a:rect r="r" b="b" t="t" l="l"/>
            <a:pathLst>
              <a:path h="8517550" w="6513421">
                <a:moveTo>
                  <a:pt x="0" y="0"/>
                </a:moveTo>
                <a:lnTo>
                  <a:pt x="6513421" y="0"/>
                </a:lnTo>
                <a:lnTo>
                  <a:pt x="6513421" y="8517550"/>
                </a:lnTo>
                <a:lnTo>
                  <a:pt x="0" y="8517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29374" y="4152471"/>
            <a:ext cx="4448989" cy="4451647"/>
          </a:xfrm>
          <a:custGeom>
            <a:avLst/>
            <a:gdLst/>
            <a:ahLst/>
            <a:cxnLst/>
            <a:rect r="r" b="b" t="t" l="l"/>
            <a:pathLst>
              <a:path h="4451647" w="4448989">
                <a:moveTo>
                  <a:pt x="0" y="0"/>
                </a:moveTo>
                <a:lnTo>
                  <a:pt x="4448989" y="0"/>
                </a:lnTo>
                <a:lnTo>
                  <a:pt x="4448989" y="4451647"/>
                </a:lnTo>
                <a:lnTo>
                  <a:pt x="0" y="4451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920185" y="7168844"/>
            <a:ext cx="2435643" cy="53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381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R² Score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3300" y="5679404"/>
            <a:ext cx="2889413" cy="127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1"/>
              </a:lnSpc>
            </a:pPr>
            <a:r>
              <a:rPr lang="en-US" sz="9556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0.997</a:t>
            </a:r>
          </a:p>
        </p:txBody>
      </p:sp>
    </p:spTree>
  </p:cSld>
  <p:clrMapOvr>
    <a:masterClrMapping/>
  </p:clrMapOvr>
  <p:transition spd="slow">
    <p:wipe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83432" y="2137987"/>
            <a:ext cx="3121136" cy="47625"/>
            <a:chOff x="0" y="0"/>
            <a:chExt cx="822028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028" cy="12543"/>
            </a:xfrm>
            <a:custGeom>
              <a:avLst/>
              <a:gdLst/>
              <a:ahLst/>
              <a:cxnLst/>
              <a:rect r="r" b="b" t="t" l="l"/>
              <a:pathLst>
                <a:path h="12543" w="822028">
                  <a:moveTo>
                    <a:pt x="6272" y="0"/>
                  </a:moveTo>
                  <a:lnTo>
                    <a:pt x="815756" y="0"/>
                  </a:lnTo>
                  <a:cubicBezTo>
                    <a:pt x="817419" y="0"/>
                    <a:pt x="819015" y="661"/>
                    <a:pt x="820191" y="1837"/>
                  </a:cubicBezTo>
                  <a:cubicBezTo>
                    <a:pt x="821367" y="3013"/>
                    <a:pt x="822028" y="4608"/>
                    <a:pt x="822028" y="6272"/>
                  </a:cubicBezTo>
                  <a:lnTo>
                    <a:pt x="822028" y="6272"/>
                  </a:lnTo>
                  <a:cubicBezTo>
                    <a:pt x="822028" y="7935"/>
                    <a:pt x="821367" y="9530"/>
                    <a:pt x="820191" y="10706"/>
                  </a:cubicBezTo>
                  <a:cubicBezTo>
                    <a:pt x="819015" y="11882"/>
                    <a:pt x="817419" y="12543"/>
                    <a:pt x="81575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202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27660" y="5284447"/>
            <a:ext cx="8432680" cy="4533528"/>
          </a:xfrm>
          <a:custGeom>
            <a:avLst/>
            <a:gdLst/>
            <a:ahLst/>
            <a:cxnLst/>
            <a:rect r="r" b="b" t="t" l="l"/>
            <a:pathLst>
              <a:path h="4533528" w="8432680">
                <a:moveTo>
                  <a:pt x="0" y="0"/>
                </a:moveTo>
                <a:lnTo>
                  <a:pt x="8432680" y="0"/>
                </a:lnTo>
                <a:lnTo>
                  <a:pt x="8432680" y="4533528"/>
                </a:lnTo>
                <a:lnTo>
                  <a:pt x="0" y="4533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821" r="0" b="-433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700660" y="2433262"/>
            <a:ext cx="2599501" cy="2601054"/>
          </a:xfrm>
          <a:custGeom>
            <a:avLst/>
            <a:gdLst/>
            <a:ahLst/>
            <a:cxnLst/>
            <a:rect r="r" b="b" t="t" l="l"/>
            <a:pathLst>
              <a:path h="2601054" w="2599501">
                <a:moveTo>
                  <a:pt x="0" y="0"/>
                </a:moveTo>
                <a:lnTo>
                  <a:pt x="2599501" y="0"/>
                </a:lnTo>
                <a:lnTo>
                  <a:pt x="2599501" y="2601054"/>
                </a:lnTo>
                <a:lnTo>
                  <a:pt x="0" y="2601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68464" y="2433262"/>
            <a:ext cx="2599501" cy="2601054"/>
          </a:xfrm>
          <a:custGeom>
            <a:avLst/>
            <a:gdLst/>
            <a:ahLst/>
            <a:cxnLst/>
            <a:rect r="r" b="b" t="t" l="l"/>
            <a:pathLst>
              <a:path h="2601054" w="2599501">
                <a:moveTo>
                  <a:pt x="0" y="0"/>
                </a:moveTo>
                <a:lnTo>
                  <a:pt x="2599501" y="0"/>
                </a:lnTo>
                <a:lnTo>
                  <a:pt x="2599501" y="2601054"/>
                </a:lnTo>
                <a:lnTo>
                  <a:pt x="0" y="2601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87839" y="2433262"/>
            <a:ext cx="2599501" cy="2601054"/>
          </a:xfrm>
          <a:custGeom>
            <a:avLst/>
            <a:gdLst/>
            <a:ahLst/>
            <a:cxnLst/>
            <a:rect r="r" b="b" t="t" l="l"/>
            <a:pathLst>
              <a:path h="2601054" w="2599501">
                <a:moveTo>
                  <a:pt x="0" y="0"/>
                </a:moveTo>
                <a:lnTo>
                  <a:pt x="2599501" y="0"/>
                </a:lnTo>
                <a:lnTo>
                  <a:pt x="2599501" y="2601054"/>
                </a:lnTo>
                <a:lnTo>
                  <a:pt x="0" y="2601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86271" y="1295400"/>
            <a:ext cx="6315458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NLP</a:t>
            </a: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14798" y="3024453"/>
            <a:ext cx="1948575" cy="87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7"/>
              </a:lnSpc>
            </a:pPr>
            <a:r>
              <a:rPr lang="en-US" sz="655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51,093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14798" y="3906802"/>
            <a:ext cx="1948575" cy="60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sz="2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Original samples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7565" y="3014928"/>
            <a:ext cx="1948575" cy="87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7"/>
              </a:lnSpc>
            </a:pPr>
            <a:r>
              <a:rPr lang="en-US" sz="655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3057" y="3852014"/>
            <a:ext cx="1948575" cy="57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217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 (AR + EN)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27822" y="2995878"/>
            <a:ext cx="1948575" cy="872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7"/>
              </a:lnSpc>
            </a:pPr>
            <a:r>
              <a:rPr lang="en-US" sz="6553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29,361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0365" y="3906802"/>
            <a:ext cx="1843489" cy="60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sz="2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Filtered </a:t>
            </a:r>
          </a:p>
          <a:p>
            <a:pPr algn="ctr">
              <a:lnSpc>
                <a:spcPts val="2260"/>
              </a:lnSpc>
            </a:pPr>
            <a:r>
              <a:rPr lang="en-US" sz="228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(3 classes)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295811" y="-4712026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3684756" y="-891138"/>
            <a:ext cx="7024991" cy="7024991"/>
          </a:xfrm>
          <a:custGeom>
            <a:avLst/>
            <a:gdLst/>
            <a:ahLst/>
            <a:cxnLst/>
            <a:rect r="r" b="b" t="t" l="l"/>
            <a:pathLst>
              <a:path h="7024991" w="7024991">
                <a:moveTo>
                  <a:pt x="0" y="0"/>
                </a:moveTo>
                <a:lnTo>
                  <a:pt x="7024991" y="0"/>
                </a:lnTo>
                <a:lnTo>
                  <a:pt x="7024991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4103856" y="1028700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3632548" y="0"/>
                </a:moveTo>
                <a:lnTo>
                  <a:pt x="0" y="0"/>
                </a:lnTo>
                <a:lnTo>
                  <a:pt x="0" y="8229600"/>
                </a:lnTo>
                <a:lnTo>
                  <a:pt x="3632548" y="8229600"/>
                </a:lnTo>
                <a:lnTo>
                  <a:pt x="3632548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-3283594" y="4548826"/>
            <a:ext cx="10387235" cy="5296699"/>
          </a:xfrm>
          <a:custGeom>
            <a:avLst/>
            <a:gdLst/>
            <a:ahLst/>
            <a:cxnLst/>
            <a:rect r="r" b="b" t="t" l="l"/>
            <a:pathLst>
              <a:path h="5296699" w="10387235">
                <a:moveTo>
                  <a:pt x="0" y="0"/>
                </a:moveTo>
                <a:lnTo>
                  <a:pt x="10387235" y="0"/>
                </a:lnTo>
                <a:lnTo>
                  <a:pt x="10387235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6250" y="3082376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0" y="0"/>
                </a:moveTo>
                <a:lnTo>
                  <a:pt x="3632548" y="0"/>
                </a:lnTo>
                <a:lnTo>
                  <a:pt x="3632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83432" y="2039723"/>
            <a:ext cx="3121136" cy="47625"/>
            <a:chOff x="0" y="0"/>
            <a:chExt cx="822028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028" cy="12543"/>
            </a:xfrm>
            <a:custGeom>
              <a:avLst/>
              <a:gdLst/>
              <a:ahLst/>
              <a:cxnLst/>
              <a:rect r="r" b="b" t="t" l="l"/>
              <a:pathLst>
                <a:path h="12543" w="822028">
                  <a:moveTo>
                    <a:pt x="6272" y="0"/>
                  </a:moveTo>
                  <a:lnTo>
                    <a:pt x="815756" y="0"/>
                  </a:lnTo>
                  <a:cubicBezTo>
                    <a:pt x="817419" y="0"/>
                    <a:pt x="819015" y="661"/>
                    <a:pt x="820191" y="1837"/>
                  </a:cubicBezTo>
                  <a:cubicBezTo>
                    <a:pt x="821367" y="3013"/>
                    <a:pt x="822028" y="4608"/>
                    <a:pt x="822028" y="6272"/>
                  </a:cubicBezTo>
                  <a:lnTo>
                    <a:pt x="822028" y="6272"/>
                  </a:lnTo>
                  <a:cubicBezTo>
                    <a:pt x="822028" y="7935"/>
                    <a:pt x="821367" y="9530"/>
                    <a:pt x="820191" y="10706"/>
                  </a:cubicBezTo>
                  <a:cubicBezTo>
                    <a:pt x="819015" y="11882"/>
                    <a:pt x="817419" y="12543"/>
                    <a:pt x="81575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202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95811" y="-4712026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3684756" y="-891138"/>
            <a:ext cx="7024991" cy="7024991"/>
          </a:xfrm>
          <a:custGeom>
            <a:avLst/>
            <a:gdLst/>
            <a:ahLst/>
            <a:cxnLst/>
            <a:rect r="r" b="b" t="t" l="l"/>
            <a:pathLst>
              <a:path h="7024991" w="7024991">
                <a:moveTo>
                  <a:pt x="0" y="0"/>
                </a:moveTo>
                <a:lnTo>
                  <a:pt x="7024991" y="0"/>
                </a:lnTo>
                <a:lnTo>
                  <a:pt x="7024991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103856" y="1028700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3632548" y="0"/>
                </a:moveTo>
                <a:lnTo>
                  <a:pt x="0" y="0"/>
                </a:lnTo>
                <a:lnTo>
                  <a:pt x="0" y="8229600"/>
                </a:lnTo>
                <a:lnTo>
                  <a:pt x="3632548" y="8229600"/>
                </a:lnTo>
                <a:lnTo>
                  <a:pt x="3632548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-3283594" y="4548826"/>
            <a:ext cx="10387235" cy="5296699"/>
          </a:xfrm>
          <a:custGeom>
            <a:avLst/>
            <a:gdLst/>
            <a:ahLst/>
            <a:cxnLst/>
            <a:rect r="r" b="b" t="t" l="l"/>
            <a:pathLst>
              <a:path h="5296699" w="10387235">
                <a:moveTo>
                  <a:pt x="0" y="0"/>
                </a:moveTo>
                <a:lnTo>
                  <a:pt x="10387235" y="0"/>
                </a:lnTo>
                <a:lnTo>
                  <a:pt x="10387235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6250" y="3082376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0" y="0"/>
                </a:moveTo>
                <a:lnTo>
                  <a:pt x="3632548" y="0"/>
                </a:lnTo>
                <a:lnTo>
                  <a:pt x="3632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10" id="10"/>
          <p:cNvGraphicFramePr/>
          <p:nvPr/>
        </p:nvGraphicFramePr>
        <p:xfrm>
          <a:off x="4806730" y="2621358"/>
          <a:ext cx="6000750" cy="5657850"/>
        </p:xfrm>
        <a:graphic>
          <a:graphicData uri="http://schemas.openxmlformats.org/presentationml/2006/ole">
            <p:oleObj imgW="7200900" imgH="68580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5986271" y="1295400"/>
            <a:ext cx="6315458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NLP</a:t>
            </a: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</a:t>
            </a:r>
          </a:p>
        </p:txBody>
      </p:sp>
    </p:spTree>
  </p:cSld>
  <p:clrMapOvr>
    <a:masterClrMapping/>
  </p:clrMapOvr>
  <p:transition spd="slow">
    <p:wipe dir="r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92765" y="3158839"/>
            <a:ext cx="2007491" cy="2008690"/>
          </a:xfrm>
          <a:custGeom>
            <a:avLst/>
            <a:gdLst/>
            <a:ahLst/>
            <a:cxnLst/>
            <a:rect r="r" b="b" t="t" l="l"/>
            <a:pathLst>
              <a:path h="2008690" w="2007491">
                <a:moveTo>
                  <a:pt x="0" y="0"/>
                </a:moveTo>
                <a:lnTo>
                  <a:pt x="2007491" y="0"/>
                </a:lnTo>
                <a:lnTo>
                  <a:pt x="2007491" y="2008690"/>
                </a:lnTo>
                <a:lnTo>
                  <a:pt x="0" y="2008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0393" y="2428832"/>
            <a:ext cx="3121136" cy="47625"/>
            <a:chOff x="0" y="0"/>
            <a:chExt cx="822028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2028" cy="12543"/>
            </a:xfrm>
            <a:custGeom>
              <a:avLst/>
              <a:gdLst/>
              <a:ahLst/>
              <a:cxnLst/>
              <a:rect r="r" b="b" t="t" l="l"/>
              <a:pathLst>
                <a:path h="12543" w="822028">
                  <a:moveTo>
                    <a:pt x="6272" y="0"/>
                  </a:moveTo>
                  <a:lnTo>
                    <a:pt x="815756" y="0"/>
                  </a:lnTo>
                  <a:cubicBezTo>
                    <a:pt x="817419" y="0"/>
                    <a:pt x="819015" y="661"/>
                    <a:pt x="820191" y="1837"/>
                  </a:cubicBezTo>
                  <a:cubicBezTo>
                    <a:pt x="821367" y="3013"/>
                    <a:pt x="822028" y="4608"/>
                    <a:pt x="822028" y="6272"/>
                  </a:cubicBezTo>
                  <a:lnTo>
                    <a:pt x="822028" y="6272"/>
                  </a:lnTo>
                  <a:cubicBezTo>
                    <a:pt x="822028" y="7935"/>
                    <a:pt x="821367" y="9530"/>
                    <a:pt x="820191" y="10706"/>
                  </a:cubicBezTo>
                  <a:cubicBezTo>
                    <a:pt x="819015" y="11882"/>
                    <a:pt x="817419" y="12543"/>
                    <a:pt x="81575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202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084849" y="3158839"/>
            <a:ext cx="2007491" cy="2008690"/>
          </a:xfrm>
          <a:custGeom>
            <a:avLst/>
            <a:gdLst/>
            <a:ahLst/>
            <a:cxnLst/>
            <a:rect r="r" b="b" t="t" l="l"/>
            <a:pathLst>
              <a:path h="2008690" w="2007491">
                <a:moveTo>
                  <a:pt x="0" y="0"/>
                </a:moveTo>
                <a:lnTo>
                  <a:pt x="2007491" y="0"/>
                </a:lnTo>
                <a:lnTo>
                  <a:pt x="2007491" y="2008690"/>
                </a:lnTo>
                <a:lnTo>
                  <a:pt x="0" y="2008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46568" y="3158839"/>
            <a:ext cx="2007491" cy="2008690"/>
          </a:xfrm>
          <a:custGeom>
            <a:avLst/>
            <a:gdLst/>
            <a:ahLst/>
            <a:cxnLst/>
            <a:rect r="r" b="b" t="t" l="l"/>
            <a:pathLst>
              <a:path h="2008690" w="2007491">
                <a:moveTo>
                  <a:pt x="0" y="0"/>
                </a:moveTo>
                <a:lnTo>
                  <a:pt x="2007491" y="0"/>
                </a:lnTo>
                <a:lnTo>
                  <a:pt x="2007491" y="2008690"/>
                </a:lnTo>
                <a:lnTo>
                  <a:pt x="0" y="2008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87744" y="3158839"/>
            <a:ext cx="2007491" cy="2008690"/>
          </a:xfrm>
          <a:custGeom>
            <a:avLst/>
            <a:gdLst/>
            <a:ahLst/>
            <a:cxnLst/>
            <a:rect r="r" b="b" t="t" l="l"/>
            <a:pathLst>
              <a:path h="2008690" w="2007491">
                <a:moveTo>
                  <a:pt x="0" y="0"/>
                </a:moveTo>
                <a:lnTo>
                  <a:pt x="2007491" y="0"/>
                </a:lnTo>
                <a:lnTo>
                  <a:pt x="2007491" y="2008690"/>
                </a:lnTo>
                <a:lnTo>
                  <a:pt x="0" y="2008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95811" y="-4712026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3684756" y="-891138"/>
            <a:ext cx="7024991" cy="7024991"/>
          </a:xfrm>
          <a:custGeom>
            <a:avLst/>
            <a:gdLst/>
            <a:ahLst/>
            <a:cxnLst/>
            <a:rect r="r" b="b" t="t" l="l"/>
            <a:pathLst>
              <a:path h="7024991" w="7024991">
                <a:moveTo>
                  <a:pt x="0" y="0"/>
                </a:moveTo>
                <a:lnTo>
                  <a:pt x="7024991" y="0"/>
                </a:lnTo>
                <a:lnTo>
                  <a:pt x="7024991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4103856" y="1028700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3632548" y="0"/>
                </a:moveTo>
                <a:lnTo>
                  <a:pt x="0" y="0"/>
                </a:lnTo>
                <a:lnTo>
                  <a:pt x="0" y="8229600"/>
                </a:lnTo>
                <a:lnTo>
                  <a:pt x="3632548" y="8229600"/>
                </a:lnTo>
                <a:lnTo>
                  <a:pt x="3632548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3283594" y="4548826"/>
            <a:ext cx="10387235" cy="5296699"/>
          </a:xfrm>
          <a:custGeom>
            <a:avLst/>
            <a:gdLst/>
            <a:ahLst/>
            <a:cxnLst/>
            <a:rect r="r" b="b" t="t" l="l"/>
            <a:pathLst>
              <a:path h="5296699" w="10387235">
                <a:moveTo>
                  <a:pt x="0" y="0"/>
                </a:moveTo>
                <a:lnTo>
                  <a:pt x="10387235" y="0"/>
                </a:lnTo>
                <a:lnTo>
                  <a:pt x="10387235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6250" y="3082376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0" y="0"/>
                </a:moveTo>
                <a:lnTo>
                  <a:pt x="3632548" y="0"/>
                </a:lnTo>
                <a:lnTo>
                  <a:pt x="3632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aphicFrame>
        <p:nvGraphicFramePr>
          <p:cNvPr name="Object 14" id="14"/>
          <p:cNvGraphicFramePr/>
          <p:nvPr/>
        </p:nvGraphicFramePr>
        <p:xfrm>
          <a:off x="5459885" y="5706762"/>
          <a:ext cx="9929812" cy="2743200"/>
        </p:xfrm>
        <a:graphic>
          <a:graphicData uri="http://schemas.openxmlformats.org/presentationml/2006/ole">
            <p:oleObj imgW="11912600" imgH="47244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5986271" y="1606859"/>
            <a:ext cx="6315458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NLP</a:t>
            </a:r>
            <a:r>
              <a:rPr lang="en-US" sz="6000" spc="-17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90311" y="3532427"/>
            <a:ext cx="1716494" cy="77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5"/>
              </a:lnSpc>
            </a:pPr>
            <a:r>
              <a:rPr lang="en-US" sz="5772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0.839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4822" y="4271264"/>
            <a:ext cx="1716494" cy="4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191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Macro F1 Score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83135" y="3532427"/>
            <a:ext cx="1716494" cy="77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5"/>
              </a:lnSpc>
            </a:pPr>
            <a:r>
              <a:rPr lang="en-US" sz="5772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83.01%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72996" y="4250321"/>
            <a:ext cx="1623924" cy="52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01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 Accuracy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82659" y="3628103"/>
            <a:ext cx="1716494" cy="65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24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63609" y="4334232"/>
            <a:ext cx="1716494" cy="49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6"/>
              </a:lnSpc>
            </a:pPr>
            <a:r>
              <a:rPr lang="en-US" sz="191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XLM-RoBERTa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51480" y="3625609"/>
            <a:ext cx="1716494" cy="77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5"/>
              </a:lnSpc>
            </a:pPr>
            <a:r>
              <a:rPr lang="en-US" sz="5772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0.3215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59665" y="4488707"/>
            <a:ext cx="1623924" cy="2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"/>
              </a:lnSpc>
            </a:pPr>
            <a:r>
              <a:rPr lang="en-US" sz="201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 Loss</a:t>
            </a:r>
          </a:p>
        </p:txBody>
      </p:sp>
    </p:spTree>
  </p:cSld>
  <p:clrMapOvr>
    <a:masterClrMapping/>
  </p:clrMapOvr>
  <p:transition spd="slow">
    <p:wipe dir="r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83432" y="2812018"/>
            <a:ext cx="3121136" cy="47625"/>
            <a:chOff x="0" y="0"/>
            <a:chExt cx="822028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028" cy="12543"/>
            </a:xfrm>
            <a:custGeom>
              <a:avLst/>
              <a:gdLst/>
              <a:ahLst/>
              <a:cxnLst/>
              <a:rect r="r" b="b" t="t" l="l"/>
              <a:pathLst>
                <a:path h="12543" w="822028">
                  <a:moveTo>
                    <a:pt x="6272" y="0"/>
                  </a:moveTo>
                  <a:lnTo>
                    <a:pt x="815756" y="0"/>
                  </a:lnTo>
                  <a:cubicBezTo>
                    <a:pt x="817419" y="0"/>
                    <a:pt x="819015" y="661"/>
                    <a:pt x="820191" y="1837"/>
                  </a:cubicBezTo>
                  <a:cubicBezTo>
                    <a:pt x="821367" y="3013"/>
                    <a:pt x="822028" y="4608"/>
                    <a:pt x="822028" y="6272"/>
                  </a:cubicBezTo>
                  <a:lnTo>
                    <a:pt x="822028" y="6272"/>
                  </a:lnTo>
                  <a:cubicBezTo>
                    <a:pt x="822028" y="7935"/>
                    <a:pt x="821367" y="9530"/>
                    <a:pt x="820191" y="10706"/>
                  </a:cubicBezTo>
                  <a:cubicBezTo>
                    <a:pt x="819015" y="11882"/>
                    <a:pt x="817419" y="12543"/>
                    <a:pt x="81575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202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3283594" y="4548826"/>
            <a:ext cx="10387235" cy="5296699"/>
          </a:xfrm>
          <a:custGeom>
            <a:avLst/>
            <a:gdLst/>
            <a:ahLst/>
            <a:cxnLst/>
            <a:rect r="r" b="b" t="t" l="l"/>
            <a:pathLst>
              <a:path h="5296699" w="10387235">
                <a:moveTo>
                  <a:pt x="0" y="0"/>
                </a:moveTo>
                <a:lnTo>
                  <a:pt x="10387235" y="0"/>
                </a:lnTo>
                <a:lnTo>
                  <a:pt x="10387235" y="5296699"/>
                </a:lnTo>
                <a:lnTo>
                  <a:pt x="0" y="529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9610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6250" y="3082376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0" y="0"/>
                </a:moveTo>
                <a:lnTo>
                  <a:pt x="3632548" y="0"/>
                </a:lnTo>
                <a:lnTo>
                  <a:pt x="3632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3684756" y="-891138"/>
            <a:ext cx="7024991" cy="7024991"/>
          </a:xfrm>
          <a:custGeom>
            <a:avLst/>
            <a:gdLst/>
            <a:ahLst/>
            <a:cxnLst/>
            <a:rect r="r" b="b" t="t" l="l"/>
            <a:pathLst>
              <a:path h="7024991" w="7024991">
                <a:moveTo>
                  <a:pt x="0" y="0"/>
                </a:moveTo>
                <a:lnTo>
                  <a:pt x="7024991" y="0"/>
                </a:lnTo>
                <a:lnTo>
                  <a:pt x="7024991" y="7024992"/>
                </a:lnTo>
                <a:lnTo>
                  <a:pt x="0" y="702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103856" y="1028700"/>
            <a:ext cx="3632548" cy="8229600"/>
          </a:xfrm>
          <a:custGeom>
            <a:avLst/>
            <a:gdLst/>
            <a:ahLst/>
            <a:cxnLst/>
            <a:rect r="r" b="b" t="t" l="l"/>
            <a:pathLst>
              <a:path h="8229600" w="3632548">
                <a:moveTo>
                  <a:pt x="3632548" y="0"/>
                </a:moveTo>
                <a:lnTo>
                  <a:pt x="0" y="0"/>
                </a:lnTo>
                <a:lnTo>
                  <a:pt x="0" y="8229600"/>
                </a:lnTo>
                <a:lnTo>
                  <a:pt x="3632548" y="8229600"/>
                </a:lnTo>
                <a:lnTo>
                  <a:pt x="363254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86271" y="1823748"/>
            <a:ext cx="6746201" cy="73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b="true" sz="6000" spc="-179">
                <a:solidFill>
                  <a:srgbClr val="6B38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</a:t>
            </a:r>
            <a:r>
              <a:rPr lang="en-US" b="true" sz="6000" spc="-179">
                <a:solidFill>
                  <a:srgbClr val="6B38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FUSION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55621" y="3957039"/>
            <a:ext cx="8621198" cy="114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30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final_score[c]= </a:t>
            </a:r>
          </a:p>
          <a:p>
            <a:pPr algn="ctr">
              <a:lnSpc>
                <a:spcPts val="2771"/>
              </a:lnSpc>
            </a:pPr>
          </a:p>
          <a:p>
            <a:pPr algn="ctr">
              <a:lnSpc>
                <a:spcPts val="296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0.4 × NLP_score[c] + 0.6 × Survey_score[c]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48435" y="6043558"/>
            <a:ext cx="4125581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60% Survey?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1656" y="6043558"/>
            <a:ext cx="3906557" cy="41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40% NLP?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91695" y="6737985"/>
            <a:ext cx="3974525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ured, standardised psychometric tool. Validated clinically — DASS-42 has 30+ years of 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1656" y="6759735"/>
            <a:ext cx="3718378" cy="210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Capt</a:t>
            </a: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ures nuanced language not in survey items. Captures nuanced language not in survey items</a:t>
            </a:r>
          </a:p>
        </p:txBody>
      </p:sp>
    </p:spTree>
  </p:cSld>
  <p:clrMapOvr>
    <a:masterClrMapping/>
  </p:clrMapOvr>
  <p:transition spd="slow">
    <p:wipe dir="r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2888" y="4147337"/>
            <a:ext cx="9140418" cy="5110963"/>
          </a:xfrm>
          <a:custGeom>
            <a:avLst/>
            <a:gdLst/>
            <a:ahLst/>
            <a:cxnLst/>
            <a:rect r="r" b="b" t="t" l="l"/>
            <a:pathLst>
              <a:path h="5110963" w="9140418">
                <a:moveTo>
                  <a:pt x="0" y="0"/>
                </a:moveTo>
                <a:lnTo>
                  <a:pt x="9140419" y="0"/>
                </a:lnTo>
                <a:lnTo>
                  <a:pt x="9140419" y="5110963"/>
                </a:lnTo>
                <a:lnTo>
                  <a:pt x="0" y="51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9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55539" y="1718314"/>
            <a:ext cx="11176922" cy="65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6000" spc="-18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</a:t>
            </a:r>
            <a:r>
              <a:rPr lang="en-US" sz="6000" spc="-18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 ENGINE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33777" y="3436640"/>
            <a:ext cx="4032124" cy="56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7"/>
              </a:lnSpc>
              <a:spcBef>
                <a:spcPct val="0"/>
              </a:spcBef>
            </a:pPr>
            <a:r>
              <a:rPr lang="en-US" b="true" sz="3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3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everity Thresholds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56103" y="3436640"/>
            <a:ext cx="3648603" cy="567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7"/>
              </a:lnSpc>
              <a:spcBef>
                <a:spcPct val="0"/>
              </a:spcBef>
            </a:pPr>
            <a:r>
              <a:rPr lang="en-US" b="true" sz="3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p</a:t>
            </a:r>
            <a:r>
              <a:rPr lang="en-US" b="true" sz="31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Report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290072" y="4073301"/>
            <a:ext cx="4780665" cy="1079724"/>
          </a:xfrm>
          <a:custGeom>
            <a:avLst/>
            <a:gdLst/>
            <a:ahLst/>
            <a:cxnLst/>
            <a:rect r="r" b="b" t="t" l="l"/>
            <a:pathLst>
              <a:path h="1079724" w="4780665">
                <a:moveTo>
                  <a:pt x="0" y="0"/>
                </a:moveTo>
                <a:lnTo>
                  <a:pt x="4780666" y="0"/>
                </a:lnTo>
                <a:lnTo>
                  <a:pt x="4780666" y="1079724"/>
                </a:lnTo>
                <a:lnTo>
                  <a:pt x="0" y="107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lgDash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290072" y="5129935"/>
            <a:ext cx="4780665" cy="1079724"/>
          </a:xfrm>
          <a:custGeom>
            <a:avLst/>
            <a:gdLst/>
            <a:ahLst/>
            <a:cxnLst/>
            <a:rect r="r" b="b" t="t" l="l"/>
            <a:pathLst>
              <a:path h="1079724" w="4780665">
                <a:moveTo>
                  <a:pt x="0" y="0"/>
                </a:moveTo>
                <a:lnTo>
                  <a:pt x="4780666" y="0"/>
                </a:lnTo>
                <a:lnTo>
                  <a:pt x="4780666" y="1079724"/>
                </a:lnTo>
                <a:lnTo>
                  <a:pt x="0" y="107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290072" y="6189498"/>
            <a:ext cx="4780665" cy="1079724"/>
          </a:xfrm>
          <a:custGeom>
            <a:avLst/>
            <a:gdLst/>
            <a:ahLst/>
            <a:cxnLst/>
            <a:rect r="r" b="b" t="t" l="l"/>
            <a:pathLst>
              <a:path h="1079724" w="4780665">
                <a:moveTo>
                  <a:pt x="0" y="0"/>
                </a:moveTo>
                <a:lnTo>
                  <a:pt x="4780666" y="0"/>
                </a:lnTo>
                <a:lnTo>
                  <a:pt x="4780666" y="1079724"/>
                </a:lnTo>
                <a:lnTo>
                  <a:pt x="0" y="107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290072" y="7239723"/>
            <a:ext cx="4780665" cy="1079724"/>
          </a:xfrm>
          <a:custGeom>
            <a:avLst/>
            <a:gdLst/>
            <a:ahLst/>
            <a:cxnLst/>
            <a:rect r="r" b="b" t="t" l="l"/>
            <a:pathLst>
              <a:path h="1079724" w="4780665">
                <a:moveTo>
                  <a:pt x="0" y="0"/>
                </a:moveTo>
                <a:lnTo>
                  <a:pt x="4780666" y="0"/>
                </a:lnTo>
                <a:lnTo>
                  <a:pt x="4780666" y="1079725"/>
                </a:lnTo>
                <a:lnTo>
                  <a:pt x="0" y="1079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290072" y="8281348"/>
            <a:ext cx="4780665" cy="1079724"/>
          </a:xfrm>
          <a:custGeom>
            <a:avLst/>
            <a:gdLst/>
            <a:ahLst/>
            <a:cxnLst/>
            <a:rect r="r" b="b" t="t" l="l"/>
            <a:pathLst>
              <a:path h="1079724" w="4780665">
                <a:moveTo>
                  <a:pt x="0" y="0"/>
                </a:moveTo>
                <a:lnTo>
                  <a:pt x="4780666" y="0"/>
                </a:lnTo>
                <a:lnTo>
                  <a:pt x="4780666" y="1079724"/>
                </a:lnTo>
                <a:lnTo>
                  <a:pt x="0" y="107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1664342" y="4378421"/>
            <a:ext cx="4032126" cy="4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4+ practical tips (EN +</a:t>
            </a: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5070" y="5459228"/>
            <a:ext cx="3510669" cy="4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2+ resources (EN +</a:t>
            </a: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8895" y="6490305"/>
            <a:ext cx="2323021" cy="4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Referral advice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14709" y="7532977"/>
            <a:ext cx="2331393" cy="4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Severity badge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48331" y="8551492"/>
            <a:ext cx="3664148" cy="4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2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Crisis hotlines if needed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650739" y="-469771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715545" y="2522240"/>
            <a:ext cx="9003523" cy="47625"/>
            <a:chOff x="0" y="0"/>
            <a:chExt cx="2371298" cy="12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71298" cy="12543"/>
            </a:xfrm>
            <a:custGeom>
              <a:avLst/>
              <a:gdLst/>
              <a:ahLst/>
              <a:cxnLst/>
              <a:rect r="r" b="b" t="t" l="l"/>
              <a:pathLst>
                <a:path h="12543" w="2371298">
                  <a:moveTo>
                    <a:pt x="6272" y="0"/>
                  </a:moveTo>
                  <a:lnTo>
                    <a:pt x="2365027" y="0"/>
                  </a:lnTo>
                  <a:cubicBezTo>
                    <a:pt x="2366690" y="0"/>
                    <a:pt x="2368285" y="661"/>
                    <a:pt x="2369461" y="1837"/>
                  </a:cubicBezTo>
                  <a:cubicBezTo>
                    <a:pt x="2370637" y="3013"/>
                    <a:pt x="2371298" y="4608"/>
                    <a:pt x="2371298" y="6272"/>
                  </a:cubicBezTo>
                  <a:lnTo>
                    <a:pt x="2371298" y="6272"/>
                  </a:lnTo>
                  <a:cubicBezTo>
                    <a:pt x="2371298" y="7935"/>
                    <a:pt x="2370637" y="9530"/>
                    <a:pt x="2369461" y="10706"/>
                  </a:cubicBezTo>
                  <a:cubicBezTo>
                    <a:pt x="2368285" y="11882"/>
                    <a:pt x="2366690" y="12543"/>
                    <a:pt x="2365027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37129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wipe dir="r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2731" y="2686080"/>
            <a:ext cx="1042538" cy="47625"/>
            <a:chOff x="0" y="0"/>
            <a:chExt cx="274578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8323" y="3776007"/>
            <a:ext cx="17992304" cy="6058086"/>
          </a:xfrm>
          <a:custGeom>
            <a:avLst/>
            <a:gdLst/>
            <a:ahLst/>
            <a:cxnLst/>
            <a:rect r="r" b="b" t="t" l="l"/>
            <a:pathLst>
              <a:path h="6058086" w="17992304">
                <a:moveTo>
                  <a:pt x="0" y="0"/>
                </a:moveTo>
                <a:lnTo>
                  <a:pt x="17992304" y="0"/>
                </a:lnTo>
                <a:lnTo>
                  <a:pt x="17992304" y="6058086"/>
                </a:lnTo>
                <a:lnTo>
                  <a:pt x="0" y="6058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68" r="0" b="-37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0953" y="422168"/>
            <a:ext cx="3143108" cy="2498771"/>
          </a:xfrm>
          <a:custGeom>
            <a:avLst/>
            <a:gdLst/>
            <a:ahLst/>
            <a:cxnLst/>
            <a:rect r="r" b="b" t="t" l="l"/>
            <a:pathLst>
              <a:path h="2498771" w="3143108">
                <a:moveTo>
                  <a:pt x="0" y="0"/>
                </a:moveTo>
                <a:lnTo>
                  <a:pt x="3143108" y="0"/>
                </a:lnTo>
                <a:lnTo>
                  <a:pt x="3143108" y="2498771"/>
                </a:lnTo>
                <a:lnTo>
                  <a:pt x="0" y="2498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78839" y="1681078"/>
            <a:ext cx="7330322" cy="8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b="true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UX/UI DESIGN</a:t>
            </a:r>
          </a:p>
        </p:txBody>
      </p:sp>
    </p:spTree>
  </p:cSld>
  <p:clrMapOvr>
    <a:masterClrMapping/>
  </p:clrMapOvr>
  <p:transition spd="slow">
    <p:wipe dir="r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804" y="180858"/>
            <a:ext cx="2263008" cy="2032046"/>
          </a:xfrm>
          <a:custGeom>
            <a:avLst/>
            <a:gdLst/>
            <a:ahLst/>
            <a:cxnLst/>
            <a:rect r="r" b="b" t="t" l="l"/>
            <a:pathLst>
              <a:path h="2032046" w="2263008">
                <a:moveTo>
                  <a:pt x="0" y="0"/>
                </a:moveTo>
                <a:lnTo>
                  <a:pt x="2263008" y="0"/>
                </a:lnTo>
                <a:lnTo>
                  <a:pt x="2263008" y="2032046"/>
                </a:lnTo>
                <a:lnTo>
                  <a:pt x="0" y="2032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4" t="-1031" r="-3279" b="-100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634" y="3734983"/>
            <a:ext cx="2329965" cy="4439300"/>
          </a:xfrm>
          <a:custGeom>
            <a:avLst/>
            <a:gdLst/>
            <a:ahLst/>
            <a:cxnLst/>
            <a:rect r="r" b="b" t="t" l="l"/>
            <a:pathLst>
              <a:path h="4439300" w="2329965">
                <a:moveTo>
                  <a:pt x="0" y="0"/>
                </a:moveTo>
                <a:lnTo>
                  <a:pt x="2329965" y="0"/>
                </a:lnTo>
                <a:lnTo>
                  <a:pt x="2329965" y="4439300"/>
                </a:lnTo>
                <a:lnTo>
                  <a:pt x="0" y="44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73" t="-3419" r="-9243" b="-2711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56812" y="3768702"/>
            <a:ext cx="1985462" cy="4439300"/>
          </a:xfrm>
          <a:custGeom>
            <a:avLst/>
            <a:gdLst/>
            <a:ahLst/>
            <a:cxnLst/>
            <a:rect r="r" b="b" t="t" l="l"/>
            <a:pathLst>
              <a:path h="4439300" w="1985462">
                <a:moveTo>
                  <a:pt x="0" y="0"/>
                </a:moveTo>
                <a:lnTo>
                  <a:pt x="1985463" y="0"/>
                </a:lnTo>
                <a:lnTo>
                  <a:pt x="1985463" y="4439300"/>
                </a:lnTo>
                <a:lnTo>
                  <a:pt x="0" y="4439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7" t="0" r="-30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39760" y="3734983"/>
            <a:ext cx="2010927" cy="4439300"/>
          </a:xfrm>
          <a:custGeom>
            <a:avLst/>
            <a:gdLst/>
            <a:ahLst/>
            <a:cxnLst/>
            <a:rect r="r" b="b" t="t" l="l"/>
            <a:pathLst>
              <a:path h="4439300" w="2010927">
                <a:moveTo>
                  <a:pt x="0" y="0"/>
                </a:moveTo>
                <a:lnTo>
                  <a:pt x="2010927" y="0"/>
                </a:lnTo>
                <a:lnTo>
                  <a:pt x="2010927" y="4439300"/>
                </a:lnTo>
                <a:lnTo>
                  <a:pt x="0" y="4439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62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74562" y="3768702"/>
            <a:ext cx="2074424" cy="4509852"/>
          </a:xfrm>
          <a:custGeom>
            <a:avLst/>
            <a:gdLst/>
            <a:ahLst/>
            <a:cxnLst/>
            <a:rect r="r" b="b" t="t" l="l"/>
            <a:pathLst>
              <a:path h="4509852" w="2074424">
                <a:moveTo>
                  <a:pt x="0" y="0"/>
                </a:moveTo>
                <a:lnTo>
                  <a:pt x="2074424" y="0"/>
                </a:lnTo>
                <a:lnTo>
                  <a:pt x="2074424" y="4509852"/>
                </a:lnTo>
                <a:lnTo>
                  <a:pt x="0" y="4509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1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72861" y="3768702"/>
            <a:ext cx="2295487" cy="4439300"/>
          </a:xfrm>
          <a:custGeom>
            <a:avLst/>
            <a:gdLst/>
            <a:ahLst/>
            <a:cxnLst/>
            <a:rect r="r" b="b" t="t" l="l"/>
            <a:pathLst>
              <a:path h="4439300" w="2295487">
                <a:moveTo>
                  <a:pt x="0" y="0"/>
                </a:moveTo>
                <a:lnTo>
                  <a:pt x="2295487" y="0"/>
                </a:lnTo>
                <a:lnTo>
                  <a:pt x="2295487" y="4439300"/>
                </a:lnTo>
                <a:lnTo>
                  <a:pt x="0" y="4439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43" t="-3304" r="-5890" b="-2761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92223" y="3839254"/>
            <a:ext cx="2036640" cy="4439300"/>
          </a:xfrm>
          <a:custGeom>
            <a:avLst/>
            <a:gdLst/>
            <a:ahLst/>
            <a:cxnLst/>
            <a:rect r="r" b="b" t="t" l="l"/>
            <a:pathLst>
              <a:path h="4439300" w="2036640">
                <a:moveTo>
                  <a:pt x="0" y="0"/>
                </a:moveTo>
                <a:lnTo>
                  <a:pt x="2036640" y="0"/>
                </a:lnTo>
                <a:lnTo>
                  <a:pt x="2036640" y="4439300"/>
                </a:lnTo>
                <a:lnTo>
                  <a:pt x="0" y="4439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782" t="-2252" r="-21518" b="-2549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54805" y="3839254"/>
            <a:ext cx="2252204" cy="4439300"/>
          </a:xfrm>
          <a:custGeom>
            <a:avLst/>
            <a:gdLst/>
            <a:ahLst/>
            <a:cxnLst/>
            <a:rect r="r" b="b" t="t" l="l"/>
            <a:pathLst>
              <a:path h="4439300" w="2252204">
                <a:moveTo>
                  <a:pt x="0" y="0"/>
                </a:moveTo>
                <a:lnTo>
                  <a:pt x="2252204" y="0"/>
                </a:lnTo>
                <a:lnTo>
                  <a:pt x="2252204" y="4439300"/>
                </a:lnTo>
                <a:lnTo>
                  <a:pt x="0" y="44393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86" t="0" r="-2786" b="-1902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78839" y="886011"/>
            <a:ext cx="7330322" cy="8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b="true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UX/UI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817" y="2708878"/>
            <a:ext cx="1747599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3"/>
              </a:lnSpc>
              <a:spcBef>
                <a:spcPct val="0"/>
              </a:spcBef>
            </a:pPr>
            <a:r>
              <a:rPr lang="en-US" b="true" sz="192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NLP WITH TEXT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27684" y="2651054"/>
            <a:ext cx="1643719" cy="88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9"/>
              </a:lnSpc>
              <a:spcBef>
                <a:spcPct val="0"/>
              </a:spcBef>
            </a:pPr>
            <a:r>
              <a:rPr lang="en-US" b="true" sz="172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ASSESSMENT RESULT OVERVIEW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39760" y="2862361"/>
            <a:ext cx="2255434" cy="77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1"/>
              </a:lnSpc>
              <a:spcBef>
                <a:spcPct val="0"/>
              </a:spcBef>
            </a:pPr>
            <a:r>
              <a:rPr lang="en-US" b="true" sz="222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ASSESSMENT RESULT TIPS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2718" y="2577968"/>
            <a:ext cx="1738113" cy="1064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b="true" sz="205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DAILY CHECK IN SUBMIT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96464" y="2569242"/>
            <a:ext cx="1448280" cy="93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  <a:spcBef>
                <a:spcPct val="0"/>
              </a:spcBef>
            </a:pPr>
            <a:r>
              <a:rPr lang="en-US" b="true" sz="18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MOOD TRACKER STATS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31225" y="2824760"/>
            <a:ext cx="2297638" cy="58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4"/>
              </a:lnSpc>
              <a:spcBef>
                <a:spcPct val="0"/>
              </a:spcBef>
            </a:pPr>
            <a:r>
              <a:rPr lang="en-US" b="true" sz="169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PSYCHOEDUCATION OVERVIEW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2505" y="3021615"/>
            <a:ext cx="2875495" cy="28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1"/>
              </a:lnSpc>
              <a:spcBef>
                <a:spcPct val="0"/>
              </a:spcBef>
            </a:pPr>
            <a:r>
              <a:rPr lang="en-US" b="true" sz="174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WELLNESS TOOLS MENU </a:t>
            </a:r>
          </a:p>
        </p:txBody>
      </p:sp>
    </p:spTree>
  </p:cSld>
  <p:clrMapOvr>
    <a:masterClrMapping/>
  </p:clrMapOvr>
  <p:transition spd="slow">
    <p:wipe dir="r"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94733" y="5238750"/>
            <a:ext cx="3457869" cy="6841988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4628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408288" y="5238750"/>
            <a:ext cx="3457869" cy="6841988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4628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9421843" y="5238750"/>
            <a:ext cx="3457869" cy="6841988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4628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3435398" y="5238750"/>
            <a:ext cx="3457869" cy="6841988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4628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622731" y="2686080"/>
            <a:ext cx="1042538" cy="47625"/>
            <a:chOff x="0" y="0"/>
            <a:chExt cx="274578" cy="125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5478839" y="1681078"/>
            <a:ext cx="7330322" cy="8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b="true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FLUTTER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2786847" y="4140070"/>
            <a:ext cx="677751" cy="67775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solidFill>
                <a:srgbClr val="6B38F2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14174" y="4147157"/>
            <a:ext cx="49611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798347" y="4140070"/>
            <a:ext cx="677751" cy="67775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solidFill>
                <a:srgbClr val="6B38F2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6889167" y="4147157"/>
            <a:ext cx="49611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811902" y="4140070"/>
            <a:ext cx="677751" cy="677751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  <a:ln w="66675" cap="sq">
              <a:solidFill>
                <a:srgbClr val="6B38F2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902722" y="4147157"/>
            <a:ext cx="49611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4825457" y="4140070"/>
            <a:ext cx="677751" cy="677751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solidFill>
                <a:srgbClr val="6B38F2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4916277" y="4147157"/>
            <a:ext cx="49611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17910" y="6690081"/>
            <a:ext cx="3090278" cy="8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AUTHENTICATION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570757" y="6418020"/>
            <a:ext cx="3132931" cy="12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MOOD</a:t>
            </a: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MONITORING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866949" y="6470994"/>
            <a:ext cx="2567657" cy="12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RESPONSIVE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</a:t>
            </a: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MODULAR UI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812911" y="6599008"/>
            <a:ext cx="2702843" cy="86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BACKEND &amp;</a:t>
            </a: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1103" y="4137362"/>
            <a:ext cx="15145794" cy="217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1"/>
              </a:lnSpc>
            </a:pP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&amp; </a:t>
            </a: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BACKEND ARCHITECTURE </a:t>
            </a:r>
          </a:p>
        </p:txBody>
      </p:sp>
    </p:spTree>
  </p:cSld>
  <p:clrMapOvr>
    <a:masterClrMapping/>
  </p:clrMapOvr>
  <p:transition spd="slow">
    <p:wipe dir="r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9349" y="1371413"/>
            <a:ext cx="10538651" cy="7544175"/>
          </a:xfrm>
          <a:custGeom>
            <a:avLst/>
            <a:gdLst/>
            <a:ahLst/>
            <a:cxnLst/>
            <a:rect r="r" b="b" t="t" l="l"/>
            <a:pathLst>
              <a:path h="7544175" w="10538651">
                <a:moveTo>
                  <a:pt x="0" y="0"/>
                </a:moveTo>
                <a:lnTo>
                  <a:pt x="10538651" y="0"/>
                </a:lnTo>
                <a:lnTo>
                  <a:pt x="10538651" y="7544174"/>
                </a:lnTo>
                <a:lnTo>
                  <a:pt x="0" y="754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2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5311" y="2064064"/>
            <a:ext cx="7426370" cy="685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 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secure cloud vault where all the data are stored safely.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SQLAlchemy ORM  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translates Python commands into SQL.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Four Core Tables: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users, check-ins, journal entries, analyses.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&amp; Performance 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generate secure SHA-256 hashes of text inputs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116095" y="874526"/>
            <a:ext cx="1086859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</a:t>
            </a: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ASE </a:t>
            </a:r>
          </a:p>
        </p:txBody>
      </p:sp>
    </p:spTree>
  </p:cSld>
  <p:clrMapOvr>
    <a:masterClrMapping/>
  </p:clrMapOvr>
  <p:transition spd="fast">
    <p:wipe dir="r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61549" y="874526"/>
            <a:ext cx="1086859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BACKEND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8077" y="1932051"/>
            <a:ext cx="9310496" cy="799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FastAPI Framework 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modern, high-performance web framework for building APIs  with Python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NumPy forward-pass :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Instead of loading large machine learning frameworks on our cloud servers , we wrote a custom NumPy forward-pass that loads the model weights directly. This processes the DASS-42 survey in milliseconds.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15+ REST API Endpoints: Support authentication, assessments, check-ins, journals, and AI analysis.</a:t>
            </a:r>
          </a:p>
          <a:p>
            <a:pPr algn="l">
              <a:lnSpc>
                <a:spcPts val="453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72751" y="201245"/>
            <a:ext cx="13515249" cy="10085755"/>
          </a:xfrm>
          <a:custGeom>
            <a:avLst/>
            <a:gdLst/>
            <a:ahLst/>
            <a:cxnLst/>
            <a:rect r="r" b="b" t="t" l="l"/>
            <a:pathLst>
              <a:path h="10085755" w="13515249">
                <a:moveTo>
                  <a:pt x="0" y="0"/>
                </a:moveTo>
                <a:lnTo>
                  <a:pt x="13515249" y="0"/>
                </a:lnTo>
                <a:lnTo>
                  <a:pt x="13515249" y="10085755"/>
                </a:lnTo>
                <a:lnTo>
                  <a:pt x="0" y="10085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1103" y="4137362"/>
            <a:ext cx="15145794" cy="217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1"/>
              </a:lnSpc>
            </a:pP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DEPLOYM</a:t>
            </a: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 </a:t>
            </a:r>
          </a:p>
          <a:p>
            <a:pPr algn="ctr" marL="0" indent="0" lvl="0">
              <a:lnSpc>
                <a:spcPts val="8361"/>
              </a:lnSpc>
            </a:pP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HOSTING</a:t>
            </a:r>
          </a:p>
        </p:txBody>
      </p:sp>
    </p:spTree>
  </p:cSld>
  <p:clrMapOvr>
    <a:masterClrMapping/>
  </p:clrMapOvr>
  <p:transition spd="slow">
    <p:wipe dir="r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08907" y="1851145"/>
            <a:ext cx="8165214" cy="7756863"/>
          </a:xfrm>
          <a:custGeom>
            <a:avLst/>
            <a:gdLst/>
            <a:ahLst/>
            <a:cxnLst/>
            <a:rect r="r" b="b" t="t" l="l"/>
            <a:pathLst>
              <a:path h="7756863" w="8165214">
                <a:moveTo>
                  <a:pt x="0" y="0"/>
                </a:moveTo>
                <a:lnTo>
                  <a:pt x="8165213" y="0"/>
                </a:lnTo>
                <a:lnTo>
                  <a:pt x="8165213" y="7756863"/>
                </a:lnTo>
                <a:lnTo>
                  <a:pt x="0" y="7756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863" r="0" b="-1811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55793"/>
            <a:ext cx="7149553" cy="51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Cloud Deployment: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Dockerized backend on Hugging Face Spaces.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Automated Updates: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 rebuild and redeploy on code changes.</a:t>
            </a:r>
          </a:p>
          <a:p>
            <a:pPr algn="l">
              <a:lnSpc>
                <a:spcPts val="4535"/>
              </a:lnSpc>
            </a:pPr>
          </a:p>
          <a:p>
            <a:pPr algn="l" marL="604519" indent="-302260" lvl="1">
              <a:lnSpc>
                <a:spcPts val="4535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Optimization: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caching and faster AI inference.</a:t>
            </a:r>
          </a:p>
          <a:p>
            <a:pPr algn="l">
              <a:lnSpc>
                <a:spcPts val="453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661549" y="874526"/>
            <a:ext cx="1086859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HOSTI</a:t>
            </a: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NG </a:t>
            </a:r>
          </a:p>
        </p:txBody>
      </p:sp>
    </p:spTree>
  </p:cSld>
  <p:clrMapOvr>
    <a:masterClrMapping/>
  </p:clrMapOvr>
  <p:transition spd="fast">
    <p:wipe dir="r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2384" y="2990678"/>
            <a:ext cx="8208867" cy="5171242"/>
          </a:xfrm>
          <a:custGeom>
            <a:avLst/>
            <a:gdLst/>
            <a:ahLst/>
            <a:cxnLst/>
            <a:rect r="r" b="b" t="t" l="l"/>
            <a:pathLst>
              <a:path h="5171242" w="8208867">
                <a:moveTo>
                  <a:pt x="0" y="0"/>
                </a:moveTo>
                <a:lnTo>
                  <a:pt x="8208867" y="0"/>
                </a:lnTo>
                <a:lnTo>
                  <a:pt x="8208867" y="5171242"/>
                </a:lnTo>
                <a:lnTo>
                  <a:pt x="0" y="5171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952" r="0" b="-5564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02416"/>
            <a:ext cx="7149553" cy="685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924" indent="-302462" lvl="1">
              <a:lnSpc>
                <a:spcPts val="4539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 Flutter Codebase:</a:t>
            </a: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One codebase for all platforms</a:t>
            </a:r>
          </a:p>
          <a:p>
            <a:pPr algn="l">
              <a:lnSpc>
                <a:spcPts val="4539"/>
              </a:lnSpc>
            </a:pPr>
          </a:p>
          <a:p>
            <a:pPr algn="l" marL="604924" indent="-302462" lvl="1">
              <a:lnSpc>
                <a:spcPts val="4539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App (Android APK)</a:t>
            </a: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Native Android application.</a:t>
            </a:r>
          </a:p>
          <a:p>
            <a:pPr algn="l">
              <a:lnSpc>
                <a:spcPts val="4539"/>
              </a:lnSpc>
            </a:pPr>
          </a:p>
          <a:p>
            <a:pPr algn="l" marL="604924" indent="-302462" lvl="1">
              <a:lnSpc>
                <a:spcPts val="4539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 Deployment (Netlify): </a:t>
            </a: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Instant browser access, no installation required.</a:t>
            </a:r>
          </a:p>
          <a:p>
            <a:pPr algn="l">
              <a:lnSpc>
                <a:spcPts val="4539"/>
              </a:lnSpc>
            </a:pPr>
          </a:p>
          <a:p>
            <a:pPr algn="l" marL="604924" indent="-302462" lvl="1">
              <a:lnSpc>
                <a:spcPts val="4539"/>
              </a:lnSpc>
              <a:buFont typeface="Arial"/>
              <a:buChar char="•"/>
            </a:pPr>
            <a:r>
              <a:rPr lang="en-US" b="true" sz="280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Cross-Platform Consistency:</a:t>
            </a: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Same experience across web and mobile.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661549" y="874526"/>
            <a:ext cx="1086859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DEPLOYM</a:t>
            </a: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71103" y="4137362"/>
            <a:ext cx="15145794" cy="217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1"/>
              </a:lnSpc>
            </a:pPr>
            <a:r>
              <a:rPr lang="en-US" sz="836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&amp; MARKET ANALYSIS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333626"/>
          <a:ext cx="16230600" cy="8794907"/>
        </p:xfrm>
        <a:graphic>
          <a:graphicData uri="http://schemas.openxmlformats.org/drawingml/2006/table">
            <a:tbl>
              <a:tblPr/>
              <a:tblGrid>
                <a:gridCol w="3247175"/>
                <a:gridCol w="3247175"/>
                <a:gridCol w="3247175"/>
                <a:gridCol w="3247175"/>
                <a:gridCol w="3241902"/>
              </a:tblGrid>
              <a:tr h="15595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our project</a:t>
                      </a: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( SafeSpace 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BetterHelp/</a:t>
                      </a:r>
                      <a:endParaRPr lang="en-US" sz="1100"/>
                    </a:p>
                    <a:p>
                      <a:pPr algn="ctr">
                        <a:lnSpc>
                          <a:spcPts val="3360"/>
                        </a:lnSpc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TalkSpace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calm/ HeadSpace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rtl="true">
                        <a:lnSpc>
                          <a:spcPts val="3360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Wysa/Woebot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</a:tr>
              <a:tr h="13799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Bilingual support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(Arabic/English)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gradFill>
                            <a:gsLst>
                              <a:gs pos="0">
                                <a:srgbClr val="9BFF73">
                                  <a:alpha val="100000"/>
                                </a:srgbClr>
                              </a:gs>
                              <a:gs pos="100000">
                                <a:srgbClr val="00A16E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gradFill>
                            <a:gsLst>
                              <a:gs pos="0">
                                <a:srgbClr val="9BFF73">
                                  <a:alpha val="100000"/>
                                </a:srgbClr>
                              </a:gs>
                              <a:gs pos="100000">
                                <a:srgbClr val="00A16E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3779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Roo</a:t>
                      </a: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t-Cause Extraction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gradFill>
                            <a:gsLst>
                              <a:gs pos="0">
                                <a:srgbClr val="9BFF73">
                                  <a:alpha val="100000"/>
                                </a:srgbClr>
                              </a:gs>
                              <a:gs pos="100000">
                                <a:srgbClr val="00A16E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773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 Multi-Model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Score Fusion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gradFill>
                            <a:gsLst>
                              <a:gs pos="0">
                                <a:srgbClr val="9BFF73">
                                  <a:alpha val="100000"/>
                                </a:srgbClr>
                              </a:gs>
                              <a:gs pos="100000">
                                <a:srgbClr val="00A16E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3263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Crisis Safety 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gradFill>
                            <a:gsLst>
                              <a:gs pos="0">
                                <a:srgbClr val="9BFF73">
                                  <a:alpha val="100000"/>
                                </a:srgbClr>
                              </a:gs>
                              <a:gs pos="100000">
                                <a:srgbClr val="00A16E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20"/>
                        </a:lnSpc>
                        <a:defRPr/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3779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Pricing &amp; Accessibility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31C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Freemium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Expensive &amp;High cost periodic fees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Subscribtion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Freemium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814270" y="567766"/>
            <a:ext cx="1265946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COMPETIT</a:t>
            </a: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IVE ANALYSIS </a:t>
            </a:r>
          </a:p>
        </p:txBody>
      </p:sp>
    </p:spTree>
  </p:cSld>
  <p:clrMapOvr>
    <a:masterClrMapping/>
  </p:clrMapOvr>
  <p:transition spd="fast">
    <p:wipe dir="r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673781"/>
            <a:chOff x="0" y="0"/>
            <a:chExt cx="24384000" cy="14231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31708"/>
            </a:xfrm>
            <a:custGeom>
              <a:avLst/>
              <a:gdLst/>
              <a:ahLst/>
              <a:cxnLst/>
              <a:rect r="r" b="b" t="t" l="l"/>
              <a:pathLst>
                <a:path h="1423170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31708"/>
                  </a:lnTo>
                  <a:lnTo>
                    <a:pt x="0" y="1423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85" t="0" r="-228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586166" y="1654870"/>
              <a:ext cx="12761479" cy="866946"/>
            </a:xfrm>
            <a:custGeom>
              <a:avLst/>
              <a:gdLst/>
              <a:ahLst/>
              <a:cxnLst/>
              <a:rect r="r" b="b" t="t" l="l"/>
              <a:pathLst>
                <a:path h="866946" w="12761479">
                  <a:moveTo>
                    <a:pt x="0" y="0"/>
                  </a:moveTo>
                  <a:lnTo>
                    <a:pt x="12761478" y="0"/>
                  </a:lnTo>
                  <a:lnTo>
                    <a:pt x="12761478" y="866945"/>
                  </a:lnTo>
                  <a:lnTo>
                    <a:pt x="0" y="866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7" t="-32439" r="-187" b="0"/>
              </a:stretch>
            </a:blipFill>
          </p:spPr>
        </p:sp>
      </p:grpSp>
    </p:spTree>
  </p:cSld>
  <p:clrMapOvr>
    <a:masterClrMapping/>
  </p:clrMapOvr>
  <p:transition spd="slow">
    <p:wipe dir="r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89762" y="1293490"/>
            <a:ext cx="9852487" cy="1267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1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 SIZE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650739" y="-469771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44937" y="2561263"/>
            <a:ext cx="3499063" cy="71245"/>
            <a:chOff x="0" y="0"/>
            <a:chExt cx="921564" cy="187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1564" cy="18764"/>
            </a:xfrm>
            <a:custGeom>
              <a:avLst/>
              <a:gdLst/>
              <a:ahLst/>
              <a:cxnLst/>
              <a:rect r="r" b="b" t="t" l="l"/>
              <a:pathLst>
                <a:path h="18764" w="921564">
                  <a:moveTo>
                    <a:pt x="9382" y="0"/>
                  </a:moveTo>
                  <a:lnTo>
                    <a:pt x="912182" y="0"/>
                  </a:lnTo>
                  <a:cubicBezTo>
                    <a:pt x="917363" y="0"/>
                    <a:pt x="921564" y="4201"/>
                    <a:pt x="921564" y="9382"/>
                  </a:cubicBezTo>
                  <a:lnTo>
                    <a:pt x="921564" y="9382"/>
                  </a:lnTo>
                  <a:cubicBezTo>
                    <a:pt x="921564" y="14564"/>
                    <a:pt x="917363" y="18764"/>
                    <a:pt x="912182" y="18764"/>
                  </a:cubicBezTo>
                  <a:lnTo>
                    <a:pt x="9382" y="18764"/>
                  </a:lnTo>
                  <a:cubicBezTo>
                    <a:pt x="4201" y="18764"/>
                    <a:pt x="0" y="14564"/>
                    <a:pt x="0" y="9382"/>
                  </a:cubicBezTo>
                  <a:lnTo>
                    <a:pt x="0" y="9382"/>
                  </a:lnTo>
                  <a:cubicBezTo>
                    <a:pt x="0" y="4201"/>
                    <a:pt x="4201" y="0"/>
                    <a:pt x="93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21564" cy="56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8258" y="5710762"/>
            <a:ext cx="5439461" cy="1184538"/>
            <a:chOff x="0" y="0"/>
            <a:chExt cx="1949380" cy="4245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49380" cy="424511"/>
            </a:xfrm>
            <a:custGeom>
              <a:avLst/>
              <a:gdLst/>
              <a:ahLst/>
              <a:cxnLst/>
              <a:rect r="r" b="b" t="t" l="l"/>
              <a:pathLst>
                <a:path h="424511" w="1949380">
                  <a:moveTo>
                    <a:pt x="52662" y="0"/>
                  </a:moveTo>
                  <a:lnTo>
                    <a:pt x="1896719" y="0"/>
                  </a:lnTo>
                  <a:cubicBezTo>
                    <a:pt x="1910685" y="0"/>
                    <a:pt x="1924080" y="5548"/>
                    <a:pt x="1933956" y="15424"/>
                  </a:cubicBezTo>
                  <a:cubicBezTo>
                    <a:pt x="1943832" y="25300"/>
                    <a:pt x="1949380" y="38695"/>
                    <a:pt x="1949380" y="52662"/>
                  </a:cubicBezTo>
                  <a:lnTo>
                    <a:pt x="1949380" y="371850"/>
                  </a:lnTo>
                  <a:cubicBezTo>
                    <a:pt x="1949380" y="400934"/>
                    <a:pt x="1925803" y="424511"/>
                    <a:pt x="1896719" y="424511"/>
                  </a:cubicBezTo>
                  <a:lnTo>
                    <a:pt x="52662" y="424511"/>
                  </a:lnTo>
                  <a:cubicBezTo>
                    <a:pt x="23577" y="424511"/>
                    <a:pt x="0" y="400934"/>
                    <a:pt x="0" y="371850"/>
                  </a:cubicBezTo>
                  <a:lnTo>
                    <a:pt x="0" y="52662"/>
                  </a:lnTo>
                  <a:cubicBezTo>
                    <a:pt x="0" y="23577"/>
                    <a:pt x="23577" y="0"/>
                    <a:pt x="52662" y="0"/>
                  </a:cubicBezTo>
                  <a:close/>
                </a:path>
              </a:pathLst>
            </a:custGeom>
            <a:gradFill rotWithShape="true">
              <a:gsLst>
                <a:gs pos="15000">
                  <a:srgbClr val="000000">
                    <a:alpha val="93000"/>
                  </a:srgbClr>
                </a:gs>
                <a:gs pos="50000">
                  <a:srgbClr val="46289B">
                    <a:alpha val="93000"/>
                  </a:srgbClr>
                </a:gs>
                <a:gs pos="85000">
                  <a:srgbClr val="46289B">
                    <a:alpha val="93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949380" cy="500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FFFFFF">
                      <a:alpha val="92941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Target Market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03110" y="5710762"/>
            <a:ext cx="5152115" cy="1184538"/>
            <a:chOff x="0" y="0"/>
            <a:chExt cx="1846402" cy="4245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6402" cy="424511"/>
            </a:xfrm>
            <a:custGeom>
              <a:avLst/>
              <a:gdLst/>
              <a:ahLst/>
              <a:cxnLst/>
              <a:rect r="r" b="b" t="t" l="l"/>
              <a:pathLst>
                <a:path h="424511" w="1846402">
                  <a:moveTo>
                    <a:pt x="55599" y="0"/>
                  </a:moveTo>
                  <a:lnTo>
                    <a:pt x="1790803" y="0"/>
                  </a:lnTo>
                  <a:cubicBezTo>
                    <a:pt x="1805549" y="0"/>
                    <a:pt x="1819690" y="5858"/>
                    <a:pt x="1830117" y="16284"/>
                  </a:cubicBezTo>
                  <a:cubicBezTo>
                    <a:pt x="1840544" y="26711"/>
                    <a:pt x="1846402" y="40853"/>
                    <a:pt x="1846402" y="55599"/>
                  </a:cubicBezTo>
                  <a:lnTo>
                    <a:pt x="1846402" y="368913"/>
                  </a:lnTo>
                  <a:cubicBezTo>
                    <a:pt x="1846402" y="399619"/>
                    <a:pt x="1821509" y="424511"/>
                    <a:pt x="1790803" y="424511"/>
                  </a:cubicBezTo>
                  <a:lnTo>
                    <a:pt x="55599" y="424511"/>
                  </a:lnTo>
                  <a:cubicBezTo>
                    <a:pt x="40853" y="424511"/>
                    <a:pt x="26711" y="418654"/>
                    <a:pt x="16284" y="408227"/>
                  </a:cubicBezTo>
                  <a:cubicBezTo>
                    <a:pt x="5858" y="397800"/>
                    <a:pt x="0" y="383658"/>
                    <a:pt x="0" y="368913"/>
                  </a:cubicBezTo>
                  <a:lnTo>
                    <a:pt x="0" y="55599"/>
                  </a:lnTo>
                  <a:cubicBezTo>
                    <a:pt x="0" y="40853"/>
                    <a:pt x="5858" y="26711"/>
                    <a:pt x="16284" y="16284"/>
                  </a:cubicBezTo>
                  <a:cubicBezTo>
                    <a:pt x="26711" y="5858"/>
                    <a:pt x="40853" y="0"/>
                    <a:pt x="55599" y="0"/>
                  </a:cubicBezTo>
                  <a:close/>
                </a:path>
              </a:pathLst>
            </a:custGeom>
            <a:gradFill rotWithShape="true">
              <a:gsLst>
                <a:gs pos="15000">
                  <a:srgbClr val="000000">
                    <a:alpha val="93000"/>
                  </a:srgbClr>
                </a:gs>
                <a:gs pos="50000">
                  <a:srgbClr val="46289B">
                    <a:alpha val="93000"/>
                  </a:srgbClr>
                </a:gs>
                <a:gs pos="85000">
                  <a:srgbClr val="46289B">
                    <a:alpha val="93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846402" cy="500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FFFFFF">
                      <a:alpha val="92941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Competitive Advantage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211881" y="4080886"/>
            <a:ext cx="1232216" cy="1232216"/>
          </a:xfrm>
          <a:custGeom>
            <a:avLst/>
            <a:gdLst/>
            <a:ahLst/>
            <a:cxnLst/>
            <a:rect r="r" b="b" t="t" l="l"/>
            <a:pathLst>
              <a:path h="1232216" w="1232216">
                <a:moveTo>
                  <a:pt x="0" y="0"/>
                </a:moveTo>
                <a:lnTo>
                  <a:pt x="1232216" y="0"/>
                </a:lnTo>
                <a:lnTo>
                  <a:pt x="1232216" y="1232216"/>
                </a:lnTo>
                <a:lnTo>
                  <a:pt x="0" y="1232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63060" y="4080886"/>
            <a:ext cx="1232216" cy="1232216"/>
          </a:xfrm>
          <a:custGeom>
            <a:avLst/>
            <a:gdLst/>
            <a:ahLst/>
            <a:cxnLst/>
            <a:rect r="r" b="b" t="t" l="l"/>
            <a:pathLst>
              <a:path h="1232216" w="1232216">
                <a:moveTo>
                  <a:pt x="0" y="0"/>
                </a:moveTo>
                <a:lnTo>
                  <a:pt x="1232216" y="0"/>
                </a:lnTo>
                <a:lnTo>
                  <a:pt x="1232216" y="1232216"/>
                </a:lnTo>
                <a:lnTo>
                  <a:pt x="0" y="1232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1828" y="4308858"/>
            <a:ext cx="5996402" cy="4110261"/>
          </a:xfrm>
          <a:custGeom>
            <a:avLst/>
            <a:gdLst/>
            <a:ahLst/>
            <a:cxnLst/>
            <a:rect r="r" b="b" t="t" l="l"/>
            <a:pathLst>
              <a:path h="4110261" w="5996402">
                <a:moveTo>
                  <a:pt x="0" y="0"/>
                </a:moveTo>
                <a:lnTo>
                  <a:pt x="5996402" y="0"/>
                </a:lnTo>
                <a:lnTo>
                  <a:pt x="5996402" y="4110260"/>
                </a:lnTo>
                <a:lnTo>
                  <a:pt x="0" y="411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1828" y="2319572"/>
            <a:ext cx="7504545" cy="78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657"/>
              </a:lnSpc>
              <a:spcBef>
                <a:spcPct val="0"/>
              </a:spcBef>
            </a:pPr>
            <a:r>
              <a:rPr lang="en-US" sz="6428" spc="-270" strike="noStrike" u="none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REVENUE MODEL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50739" y="-4697710"/>
            <a:ext cx="10008973" cy="8229600"/>
          </a:xfrm>
          <a:custGeom>
            <a:avLst/>
            <a:gdLst/>
            <a:ahLst/>
            <a:cxnLst/>
            <a:rect r="r" b="b" t="t" l="l"/>
            <a:pathLst>
              <a:path h="8229600" w="10008973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01485" y="4835098"/>
            <a:ext cx="987454" cy="108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9"/>
              </a:lnSpc>
              <a:spcBef>
                <a:spcPct val="0"/>
              </a:spcBef>
            </a:pPr>
            <a:r>
              <a:rPr lang="en-US" sz="8965" spc="-376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25</a:t>
            </a:r>
            <a:r>
              <a:rPr lang="en-US" sz="8965" spc="-376" strike="noStrike" u="none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50739" y="3658724"/>
            <a:ext cx="5504235" cy="33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1"/>
              </a:lnSpc>
              <a:spcBef>
                <a:spcPct val="0"/>
              </a:spcBef>
            </a:pPr>
            <a:r>
              <a:rPr lang="en-US" b="true" sz="23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MIUM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CRIP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 PLAN</a:t>
            </a:r>
            <a:r>
              <a:rPr lang="en-US" b="true" sz="2361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01485" y="6301265"/>
            <a:ext cx="1149556" cy="104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92"/>
              </a:lnSpc>
              <a:spcBef>
                <a:spcPct val="0"/>
              </a:spcBef>
            </a:pPr>
            <a:r>
              <a:rPr lang="en-US" sz="8627" spc="-362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1</a:t>
            </a:r>
            <a:r>
              <a:rPr lang="en-US" sz="8627" spc="-362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5</a:t>
            </a:r>
            <a:r>
              <a:rPr lang="en-US" sz="8627" spc="-362" strike="noStrike" u="none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50739" y="6574961"/>
            <a:ext cx="6317755" cy="33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THERAPIST 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 PAR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TNE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HIP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92454" y="3199808"/>
            <a:ext cx="4467501" cy="47625"/>
            <a:chOff x="0" y="0"/>
            <a:chExt cx="1176626" cy="125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6626" cy="12543"/>
            </a:xfrm>
            <a:custGeom>
              <a:avLst/>
              <a:gdLst/>
              <a:ahLst/>
              <a:cxnLst/>
              <a:rect r="r" b="b" t="t" l="l"/>
              <a:pathLst>
                <a:path h="12543" w="1176626">
                  <a:moveTo>
                    <a:pt x="6272" y="0"/>
                  </a:moveTo>
                  <a:lnTo>
                    <a:pt x="1170354" y="0"/>
                  </a:lnTo>
                  <a:cubicBezTo>
                    <a:pt x="1172018" y="0"/>
                    <a:pt x="1173613" y="661"/>
                    <a:pt x="1174789" y="1837"/>
                  </a:cubicBezTo>
                  <a:cubicBezTo>
                    <a:pt x="1175965" y="3013"/>
                    <a:pt x="1176626" y="4608"/>
                    <a:pt x="1176626" y="6272"/>
                  </a:cubicBezTo>
                  <a:lnTo>
                    <a:pt x="1176626" y="6272"/>
                  </a:lnTo>
                  <a:cubicBezTo>
                    <a:pt x="1176626" y="7935"/>
                    <a:pt x="1175965" y="9530"/>
                    <a:pt x="1174789" y="10706"/>
                  </a:cubicBezTo>
                  <a:cubicBezTo>
                    <a:pt x="1173613" y="11882"/>
                    <a:pt x="1172018" y="12543"/>
                    <a:pt x="117035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662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201485" y="3368175"/>
            <a:ext cx="1179148" cy="107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7"/>
              </a:lnSpc>
              <a:spcBef>
                <a:spcPct val="0"/>
              </a:spcBef>
            </a:pPr>
            <a:r>
              <a:rPr lang="en-US" sz="8849" spc="-371">
                <a:solidFill>
                  <a:srgbClr val="FFFFFF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50%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01485" y="7557779"/>
            <a:ext cx="1179148" cy="107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7"/>
              </a:lnSpc>
              <a:spcBef>
                <a:spcPct val="0"/>
              </a:spcBef>
            </a:pPr>
            <a:r>
              <a:rPr lang="en-US" sz="8849" spc="-371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10</a:t>
            </a:r>
            <a:r>
              <a:rPr lang="en-US" sz="8849" spc="-371" strike="noStrike" u="none">
                <a:solidFill>
                  <a:srgbClr val="FFF7F9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50739" y="5162550"/>
            <a:ext cx="6317755" cy="33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50739" y="7848329"/>
            <a:ext cx="6317755" cy="33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  <a:r>
              <a:rPr lang="en-US" b="true" sz="23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WELL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NES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 PR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AM</a:t>
            </a:r>
            <a:r>
              <a:rPr lang="en-US" b="true" sz="236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</p:spTree>
  </p:cSld>
  <p:clrMapOvr>
    <a:masterClrMapping/>
  </p:clrMapOvr>
  <p:transition spd="slow">
    <p:wipe dir="r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1077" y="3777086"/>
            <a:ext cx="5361766" cy="47625"/>
            <a:chOff x="0" y="0"/>
            <a:chExt cx="1119353" cy="9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9353" cy="9942"/>
            </a:xfrm>
            <a:custGeom>
              <a:avLst/>
              <a:gdLst/>
              <a:ahLst/>
              <a:cxnLst/>
              <a:rect r="r" b="b" t="t" l="l"/>
              <a:pathLst>
                <a:path h="9942" w="1119353">
                  <a:moveTo>
                    <a:pt x="4971" y="0"/>
                  </a:moveTo>
                  <a:lnTo>
                    <a:pt x="1114381" y="0"/>
                  </a:lnTo>
                  <a:cubicBezTo>
                    <a:pt x="1115700" y="0"/>
                    <a:pt x="1116964" y="524"/>
                    <a:pt x="1117897" y="1456"/>
                  </a:cubicBezTo>
                  <a:cubicBezTo>
                    <a:pt x="1118829" y="2388"/>
                    <a:pt x="1119353" y="3653"/>
                    <a:pt x="1119353" y="4971"/>
                  </a:cubicBezTo>
                  <a:lnTo>
                    <a:pt x="1119353" y="4971"/>
                  </a:lnTo>
                  <a:cubicBezTo>
                    <a:pt x="1119353" y="6290"/>
                    <a:pt x="1118829" y="7554"/>
                    <a:pt x="1117897" y="8486"/>
                  </a:cubicBezTo>
                  <a:cubicBezTo>
                    <a:pt x="1116964" y="9419"/>
                    <a:pt x="1115700" y="9942"/>
                    <a:pt x="1114381" y="9942"/>
                  </a:cubicBezTo>
                  <a:lnTo>
                    <a:pt x="4971" y="9942"/>
                  </a:lnTo>
                  <a:cubicBezTo>
                    <a:pt x="3653" y="9942"/>
                    <a:pt x="2388" y="9419"/>
                    <a:pt x="1456" y="8486"/>
                  </a:cubicBezTo>
                  <a:cubicBezTo>
                    <a:pt x="524" y="7554"/>
                    <a:pt x="0" y="6290"/>
                    <a:pt x="0" y="4971"/>
                  </a:cubicBezTo>
                  <a:lnTo>
                    <a:pt x="0" y="4971"/>
                  </a:lnTo>
                  <a:cubicBezTo>
                    <a:pt x="0" y="3653"/>
                    <a:pt x="524" y="2388"/>
                    <a:pt x="1456" y="1456"/>
                  </a:cubicBezTo>
                  <a:cubicBezTo>
                    <a:pt x="2388" y="524"/>
                    <a:pt x="3653" y="0"/>
                    <a:pt x="49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19353" cy="48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85901" y="1527165"/>
            <a:ext cx="7512118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</a:t>
            </a:r>
          </a:p>
          <a:p>
            <a:pPr algn="ctr">
              <a:lnSpc>
                <a:spcPts val="7019"/>
              </a:lnSpc>
            </a:pPr>
            <a:r>
              <a:rPr lang="en-US" sz="6000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ENHANCEMENT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37922" y="4788410"/>
            <a:ext cx="9102099" cy="360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7275" indent="-268637" lvl="1">
              <a:lnSpc>
                <a:spcPts val="3483"/>
              </a:lnSpc>
              <a:buFont typeface="Arial"/>
              <a:buChar char="•"/>
            </a:pPr>
            <a:r>
              <a:rPr lang="en-US" b="true" sz="24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with wearable devices.</a:t>
            </a:r>
          </a:p>
          <a:p>
            <a:pPr algn="l">
              <a:lnSpc>
                <a:spcPts val="3483"/>
              </a:lnSpc>
            </a:pPr>
          </a:p>
          <a:p>
            <a:pPr algn="l" marL="537275" indent="-268637" lvl="1">
              <a:lnSpc>
                <a:spcPts val="3483"/>
              </a:lnSpc>
              <a:buFont typeface="Arial"/>
              <a:buChar char="•"/>
            </a:pPr>
            <a:r>
              <a:rPr lang="en-US" b="true" sz="24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Clinical Validation Study.</a:t>
            </a:r>
          </a:p>
          <a:p>
            <a:pPr algn="l">
              <a:lnSpc>
                <a:spcPts val="3483"/>
              </a:lnSpc>
            </a:pPr>
          </a:p>
          <a:p>
            <a:pPr algn="l" marL="537275" indent="-268637" lvl="1">
              <a:lnSpc>
                <a:spcPts val="3483"/>
              </a:lnSpc>
              <a:buFont typeface="Arial"/>
              <a:buChar char="•"/>
            </a:pPr>
            <a:r>
              <a:rPr lang="en-US" b="true" sz="24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for additional mental health conditions.</a:t>
            </a:r>
          </a:p>
          <a:p>
            <a:pPr algn="l">
              <a:lnSpc>
                <a:spcPts val="3483"/>
              </a:lnSpc>
            </a:pPr>
          </a:p>
          <a:p>
            <a:pPr algn="l" marL="537275" indent="-268637" lvl="1">
              <a:lnSpc>
                <a:spcPts val="3483"/>
              </a:lnSpc>
              <a:buFont typeface="Arial"/>
              <a:buChar char="•"/>
            </a:pPr>
            <a:r>
              <a:rPr lang="en-US" b="true" sz="24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Voice Emotion Recognition.</a:t>
            </a:r>
          </a:p>
          <a:p>
            <a:pPr algn="l">
              <a:lnSpc>
                <a:spcPts val="4094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66269">
            <a:off x="1191351" y="1887352"/>
            <a:ext cx="5292113" cy="8560771"/>
          </a:xfrm>
          <a:custGeom>
            <a:avLst/>
            <a:gdLst/>
            <a:ahLst/>
            <a:cxnLst/>
            <a:rect r="r" b="b" t="t" l="l"/>
            <a:pathLst>
              <a:path h="8560771" w="5292113">
                <a:moveTo>
                  <a:pt x="0" y="0"/>
                </a:moveTo>
                <a:lnTo>
                  <a:pt x="5292113" y="0"/>
                </a:lnTo>
                <a:lnTo>
                  <a:pt x="5292113" y="8560771"/>
                </a:lnTo>
                <a:lnTo>
                  <a:pt x="0" y="856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08562" y="2392523"/>
            <a:ext cx="5558876" cy="555887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38F2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79438" y="2364062"/>
            <a:ext cx="5558876" cy="55588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0F18">
                    <a:alpha val="100000"/>
                  </a:srgbClr>
                </a:gs>
                <a:gs pos="100000">
                  <a:srgbClr val="6A38F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587049" y="1337805"/>
            <a:ext cx="9113902" cy="5126570"/>
          </a:xfrm>
          <a:custGeom>
            <a:avLst/>
            <a:gdLst/>
            <a:ahLst/>
            <a:cxnLst/>
            <a:rect r="r" b="b" t="t" l="l"/>
            <a:pathLst>
              <a:path h="5126570" w="9113902">
                <a:moveTo>
                  <a:pt x="0" y="0"/>
                </a:moveTo>
                <a:lnTo>
                  <a:pt x="9113902" y="0"/>
                </a:lnTo>
                <a:lnTo>
                  <a:pt x="9113902" y="5126570"/>
                </a:lnTo>
                <a:lnTo>
                  <a:pt x="0" y="5126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82686" y="5391403"/>
            <a:ext cx="12122627" cy="307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7999">
                <a:solidFill>
                  <a:srgbClr val="4E2DA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4E2DA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"SAFESPACE DOESN'T JUST ANALYZE EMOTIONS... IT TRANSFORMS DATA INTO UNDERSTANDING, AND UNDERSTANDING INTO SUPPORT."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000"/>
              </a:lnSpc>
            </a:pPr>
          </a:p>
        </p:txBody>
      </p:sp>
    </p:spTree>
  </p:cSld>
  <p:clrMapOvr>
    <a:masterClrMapping/>
  </p:clrMapOvr>
  <p:transition spd="slow">
    <p:wipe dir="d"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366617" y="2888737"/>
            <a:ext cx="1892041" cy="1892033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31048" t="-67983" r="-43765" b="-65102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297364" y="2888737"/>
            <a:ext cx="1892041" cy="1892033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-30748" r="0" b="-4703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42425">
            <a:off x="15564695" y="3570892"/>
            <a:ext cx="7071608" cy="7071608"/>
            <a:chOff x="0" y="0"/>
            <a:chExt cx="4640128" cy="4640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40072" cy="4640072"/>
            </a:xfrm>
            <a:custGeom>
              <a:avLst/>
              <a:gdLst/>
              <a:ahLst/>
              <a:cxnLst/>
              <a:rect r="r" b="b" t="t" l="l"/>
              <a:pathLst>
                <a:path h="4640072" w="4640072">
                  <a:moveTo>
                    <a:pt x="1592834" y="3047238"/>
                  </a:moveTo>
                  <a:cubicBezTo>
                    <a:pt x="1846834" y="3278124"/>
                    <a:pt x="1846834" y="3693668"/>
                    <a:pt x="1615948" y="3947541"/>
                  </a:cubicBezTo>
                  <a:cubicBezTo>
                    <a:pt x="2331593" y="4640072"/>
                    <a:pt x="2331593" y="4640072"/>
                    <a:pt x="2331593" y="4640072"/>
                  </a:cubicBezTo>
                  <a:cubicBezTo>
                    <a:pt x="3162681" y="3808984"/>
                    <a:pt x="3162681" y="3808984"/>
                    <a:pt x="3162681" y="3808984"/>
                  </a:cubicBezTo>
                  <a:cubicBezTo>
                    <a:pt x="3185795" y="3832098"/>
                    <a:pt x="3208909" y="3878199"/>
                    <a:pt x="3231896" y="3901313"/>
                  </a:cubicBezTo>
                  <a:cubicBezTo>
                    <a:pt x="3439668" y="4085971"/>
                    <a:pt x="3739769" y="4085971"/>
                    <a:pt x="3924427" y="3901313"/>
                  </a:cubicBezTo>
                  <a:cubicBezTo>
                    <a:pt x="4109085" y="3716655"/>
                    <a:pt x="4109085" y="3416554"/>
                    <a:pt x="3924427" y="3231896"/>
                  </a:cubicBezTo>
                  <a:cubicBezTo>
                    <a:pt x="3901313" y="3185668"/>
                    <a:pt x="3855212" y="3162681"/>
                    <a:pt x="3808984" y="3139567"/>
                  </a:cubicBezTo>
                  <a:cubicBezTo>
                    <a:pt x="4640072" y="2331593"/>
                    <a:pt x="4640072" y="2331593"/>
                    <a:pt x="4640072" y="2331593"/>
                  </a:cubicBezTo>
                  <a:cubicBezTo>
                    <a:pt x="3808984" y="1500505"/>
                    <a:pt x="3808984" y="1500505"/>
                    <a:pt x="3808984" y="1500505"/>
                  </a:cubicBezTo>
                  <a:cubicBezTo>
                    <a:pt x="3832098" y="1477391"/>
                    <a:pt x="3855212" y="1454277"/>
                    <a:pt x="3901313" y="1431290"/>
                  </a:cubicBezTo>
                  <a:cubicBezTo>
                    <a:pt x="4085971" y="1246632"/>
                    <a:pt x="4085971" y="946531"/>
                    <a:pt x="3901313" y="761873"/>
                  </a:cubicBezTo>
                  <a:cubicBezTo>
                    <a:pt x="3693541" y="577215"/>
                    <a:pt x="3393440" y="577215"/>
                    <a:pt x="3208782" y="761873"/>
                  </a:cubicBezTo>
                  <a:cubicBezTo>
                    <a:pt x="3185668" y="784987"/>
                    <a:pt x="3162554" y="808101"/>
                    <a:pt x="3139567" y="831088"/>
                  </a:cubicBezTo>
                  <a:cubicBezTo>
                    <a:pt x="2308479" y="0"/>
                    <a:pt x="2308479" y="0"/>
                    <a:pt x="2308479" y="0"/>
                  </a:cubicBezTo>
                  <a:cubicBezTo>
                    <a:pt x="0" y="2308479"/>
                    <a:pt x="0" y="2308479"/>
                    <a:pt x="0" y="2308479"/>
                  </a:cubicBezTo>
                  <a:cubicBezTo>
                    <a:pt x="715645" y="3024124"/>
                    <a:pt x="715645" y="3024124"/>
                    <a:pt x="715645" y="3024124"/>
                  </a:cubicBezTo>
                  <a:cubicBezTo>
                    <a:pt x="969645" y="2793238"/>
                    <a:pt x="1362075" y="2793238"/>
                    <a:pt x="1592834" y="304723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38F2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-142425">
            <a:off x="12063017" y="7447592"/>
            <a:ext cx="7071608" cy="7035298"/>
            <a:chOff x="0" y="0"/>
            <a:chExt cx="4640128" cy="46163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40199" cy="4616323"/>
            </a:xfrm>
            <a:custGeom>
              <a:avLst/>
              <a:gdLst/>
              <a:ahLst/>
              <a:cxnLst/>
              <a:rect r="r" b="b" t="t" l="l"/>
              <a:pathLst>
                <a:path h="4616323" w="4640199">
                  <a:moveTo>
                    <a:pt x="1338961" y="3970020"/>
                  </a:moveTo>
                  <a:cubicBezTo>
                    <a:pt x="1385189" y="3900805"/>
                    <a:pt x="1431290" y="3854577"/>
                    <a:pt x="1454404" y="3762248"/>
                  </a:cubicBezTo>
                  <a:cubicBezTo>
                    <a:pt x="2308606" y="4616323"/>
                    <a:pt x="2308606" y="4616323"/>
                    <a:pt x="2308606" y="4616323"/>
                  </a:cubicBezTo>
                  <a:cubicBezTo>
                    <a:pt x="3139694" y="3785362"/>
                    <a:pt x="3139694" y="3785362"/>
                    <a:pt x="3139694" y="3785362"/>
                  </a:cubicBezTo>
                  <a:cubicBezTo>
                    <a:pt x="3162808" y="3831463"/>
                    <a:pt x="3185922" y="3854577"/>
                    <a:pt x="3208909" y="3900805"/>
                  </a:cubicBezTo>
                  <a:cubicBezTo>
                    <a:pt x="3416681" y="4085463"/>
                    <a:pt x="3716782" y="4085463"/>
                    <a:pt x="3901440" y="3900805"/>
                  </a:cubicBezTo>
                  <a:cubicBezTo>
                    <a:pt x="4086098" y="3716147"/>
                    <a:pt x="4086098" y="3393059"/>
                    <a:pt x="3901440" y="3208401"/>
                  </a:cubicBezTo>
                  <a:cubicBezTo>
                    <a:pt x="3878326" y="3185287"/>
                    <a:pt x="3832225" y="3162300"/>
                    <a:pt x="3785997" y="3139186"/>
                  </a:cubicBezTo>
                  <a:cubicBezTo>
                    <a:pt x="4640199" y="2308225"/>
                    <a:pt x="4640199" y="2308225"/>
                    <a:pt x="4640199" y="2308225"/>
                  </a:cubicBezTo>
                  <a:cubicBezTo>
                    <a:pt x="3924554" y="1592707"/>
                    <a:pt x="3924554" y="1592707"/>
                    <a:pt x="3924554" y="1592707"/>
                  </a:cubicBezTo>
                  <a:cubicBezTo>
                    <a:pt x="3809111" y="1477264"/>
                    <a:pt x="3809111" y="1477264"/>
                    <a:pt x="3809111" y="1477264"/>
                  </a:cubicBezTo>
                  <a:cubicBezTo>
                    <a:pt x="3832225" y="1454150"/>
                    <a:pt x="3878326" y="1431163"/>
                    <a:pt x="3901440" y="1408049"/>
                  </a:cubicBezTo>
                  <a:cubicBezTo>
                    <a:pt x="4086098" y="1200277"/>
                    <a:pt x="4086098" y="900303"/>
                    <a:pt x="3901440" y="715645"/>
                  </a:cubicBezTo>
                  <a:cubicBezTo>
                    <a:pt x="3716782" y="530987"/>
                    <a:pt x="3416681" y="530987"/>
                    <a:pt x="3232023" y="715645"/>
                  </a:cubicBezTo>
                  <a:cubicBezTo>
                    <a:pt x="3185795" y="738759"/>
                    <a:pt x="3162808" y="784860"/>
                    <a:pt x="3139694" y="807974"/>
                  </a:cubicBezTo>
                  <a:cubicBezTo>
                    <a:pt x="3024251" y="692531"/>
                    <a:pt x="3024251" y="692531"/>
                    <a:pt x="3024251" y="692531"/>
                  </a:cubicBezTo>
                  <a:cubicBezTo>
                    <a:pt x="2331593" y="0"/>
                    <a:pt x="2331593" y="0"/>
                    <a:pt x="2331593" y="0"/>
                  </a:cubicBezTo>
                  <a:cubicBezTo>
                    <a:pt x="1454404" y="854075"/>
                    <a:pt x="1454404" y="854075"/>
                    <a:pt x="1454404" y="854075"/>
                  </a:cubicBezTo>
                  <a:cubicBezTo>
                    <a:pt x="1431290" y="784860"/>
                    <a:pt x="1408176" y="738632"/>
                    <a:pt x="1362075" y="715645"/>
                  </a:cubicBezTo>
                  <a:cubicBezTo>
                    <a:pt x="1177417" y="507873"/>
                    <a:pt x="877316" y="507873"/>
                    <a:pt x="692658" y="715645"/>
                  </a:cubicBezTo>
                  <a:cubicBezTo>
                    <a:pt x="508000" y="900303"/>
                    <a:pt x="508000" y="1200404"/>
                    <a:pt x="692658" y="1385062"/>
                  </a:cubicBezTo>
                  <a:cubicBezTo>
                    <a:pt x="738886" y="1431163"/>
                    <a:pt x="784987" y="1454277"/>
                    <a:pt x="831215" y="1477391"/>
                  </a:cubicBezTo>
                  <a:cubicBezTo>
                    <a:pt x="0" y="2308098"/>
                    <a:pt x="0" y="2308098"/>
                    <a:pt x="0" y="2308098"/>
                  </a:cubicBezTo>
                  <a:cubicBezTo>
                    <a:pt x="854202" y="3162173"/>
                    <a:pt x="854202" y="3162173"/>
                    <a:pt x="854202" y="3162173"/>
                  </a:cubicBezTo>
                  <a:cubicBezTo>
                    <a:pt x="784987" y="3185287"/>
                    <a:pt x="715645" y="3231388"/>
                    <a:pt x="646430" y="3277616"/>
                  </a:cubicBezTo>
                  <a:cubicBezTo>
                    <a:pt x="461772" y="3485388"/>
                    <a:pt x="461772" y="3785362"/>
                    <a:pt x="646430" y="3970020"/>
                  </a:cubicBezTo>
                  <a:cubicBezTo>
                    <a:pt x="831088" y="4154678"/>
                    <a:pt x="1154303" y="4154678"/>
                    <a:pt x="1338961" y="397002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228111" y="2888737"/>
            <a:ext cx="1892041" cy="1892033"/>
            <a:chOff x="0" y="0"/>
            <a:chExt cx="6350000" cy="6349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46540" t="-82104" r="-157558" b="-303118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4158857" y="2888737"/>
            <a:ext cx="1892041" cy="1892033"/>
            <a:chOff x="0" y="0"/>
            <a:chExt cx="6350000" cy="63499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19626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145303" y="5721960"/>
            <a:ext cx="1892041" cy="1892033"/>
            <a:chOff x="0" y="0"/>
            <a:chExt cx="6350000" cy="6349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11630" t="-18185" r="-8756" b="-4219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4626197" y="5721960"/>
            <a:ext cx="1892041" cy="1892033"/>
            <a:chOff x="0" y="0"/>
            <a:chExt cx="6350000" cy="63499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0" t="-15843" r="0" b="-15843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7118006" y="5721960"/>
            <a:ext cx="1892041" cy="1892033"/>
            <a:chOff x="0" y="0"/>
            <a:chExt cx="6350000" cy="63499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0" t="-38889" r="0" b="-38889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9773315" y="5721960"/>
            <a:ext cx="1892041" cy="1892033"/>
            <a:chOff x="0" y="0"/>
            <a:chExt cx="6350000" cy="63499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 l="-27305" t="0" r="-5815" b="-9610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148153">
            <a:off x="-520180" y="-3324031"/>
            <a:ext cx="7071608" cy="7035298"/>
            <a:chOff x="0" y="0"/>
            <a:chExt cx="4640128" cy="46163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40072" cy="4616196"/>
            </a:xfrm>
            <a:custGeom>
              <a:avLst/>
              <a:gdLst/>
              <a:ahLst/>
              <a:cxnLst/>
              <a:rect r="r" b="b" t="t" l="l"/>
              <a:pathLst>
                <a:path h="4616196" w="4640072">
                  <a:moveTo>
                    <a:pt x="1615948" y="3023616"/>
                  </a:moveTo>
                  <a:cubicBezTo>
                    <a:pt x="1846834" y="3277489"/>
                    <a:pt x="1846834" y="3669919"/>
                    <a:pt x="1615948" y="3923792"/>
                  </a:cubicBezTo>
                  <a:cubicBezTo>
                    <a:pt x="2331593" y="4616196"/>
                    <a:pt x="2331593" y="4616196"/>
                    <a:pt x="2331593" y="4616196"/>
                  </a:cubicBezTo>
                  <a:cubicBezTo>
                    <a:pt x="3162681" y="3785235"/>
                    <a:pt x="3162681" y="3785235"/>
                    <a:pt x="3162681" y="3785235"/>
                  </a:cubicBezTo>
                  <a:cubicBezTo>
                    <a:pt x="3185795" y="3831336"/>
                    <a:pt x="3208909" y="3877564"/>
                    <a:pt x="3255010" y="3923665"/>
                  </a:cubicBezTo>
                  <a:cubicBezTo>
                    <a:pt x="3439668" y="4108323"/>
                    <a:pt x="3739769" y="4108323"/>
                    <a:pt x="3924427" y="3923665"/>
                  </a:cubicBezTo>
                  <a:cubicBezTo>
                    <a:pt x="4132199" y="3715893"/>
                    <a:pt x="4132199" y="3415919"/>
                    <a:pt x="3924427" y="3231261"/>
                  </a:cubicBezTo>
                  <a:cubicBezTo>
                    <a:pt x="3901313" y="3185160"/>
                    <a:pt x="3855212" y="3162046"/>
                    <a:pt x="3808984" y="3138932"/>
                  </a:cubicBezTo>
                  <a:cubicBezTo>
                    <a:pt x="4640072" y="2307971"/>
                    <a:pt x="4640072" y="2307971"/>
                    <a:pt x="4640072" y="2307971"/>
                  </a:cubicBezTo>
                  <a:cubicBezTo>
                    <a:pt x="3808984" y="1500124"/>
                    <a:pt x="3808984" y="1500124"/>
                    <a:pt x="3808984" y="1500124"/>
                  </a:cubicBezTo>
                  <a:cubicBezTo>
                    <a:pt x="3832098" y="1477010"/>
                    <a:pt x="3855212" y="1454023"/>
                    <a:pt x="3901313" y="1430909"/>
                  </a:cubicBezTo>
                  <a:cubicBezTo>
                    <a:pt x="4085971" y="1223137"/>
                    <a:pt x="4085971" y="923163"/>
                    <a:pt x="3901313" y="738505"/>
                  </a:cubicBezTo>
                  <a:cubicBezTo>
                    <a:pt x="3693541" y="553847"/>
                    <a:pt x="3393440" y="553847"/>
                    <a:pt x="3208782" y="738505"/>
                  </a:cubicBezTo>
                  <a:cubicBezTo>
                    <a:pt x="3185668" y="761619"/>
                    <a:pt x="3162554" y="807720"/>
                    <a:pt x="3139567" y="830834"/>
                  </a:cubicBezTo>
                  <a:cubicBezTo>
                    <a:pt x="2308479" y="0"/>
                    <a:pt x="2308479" y="0"/>
                    <a:pt x="2308479" y="0"/>
                  </a:cubicBezTo>
                  <a:cubicBezTo>
                    <a:pt x="1615948" y="669417"/>
                    <a:pt x="1615948" y="669417"/>
                    <a:pt x="1615948" y="669417"/>
                  </a:cubicBezTo>
                  <a:cubicBezTo>
                    <a:pt x="1846834" y="923290"/>
                    <a:pt x="1846834" y="1338834"/>
                    <a:pt x="1615948" y="1592707"/>
                  </a:cubicBezTo>
                  <a:cubicBezTo>
                    <a:pt x="1361948" y="1823466"/>
                    <a:pt x="946531" y="1823466"/>
                    <a:pt x="692531" y="1592707"/>
                  </a:cubicBezTo>
                  <a:cubicBezTo>
                    <a:pt x="0" y="2308098"/>
                    <a:pt x="0" y="2308098"/>
                    <a:pt x="0" y="2308098"/>
                  </a:cubicBezTo>
                  <a:cubicBezTo>
                    <a:pt x="715645" y="3023616"/>
                    <a:pt x="715645" y="3023616"/>
                    <a:pt x="715645" y="3023616"/>
                  </a:cubicBezTo>
                  <a:cubicBezTo>
                    <a:pt x="969645" y="2769743"/>
                    <a:pt x="1362075" y="2769743"/>
                    <a:pt x="1615948" y="302361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6289B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24" id="24"/>
          <p:cNvGrpSpPr/>
          <p:nvPr/>
        </p:nvGrpSpPr>
        <p:grpSpPr>
          <a:xfrm rot="-148153">
            <a:off x="-4120583" y="492412"/>
            <a:ext cx="7105717" cy="7105717"/>
            <a:chOff x="0" y="0"/>
            <a:chExt cx="4662509" cy="46625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62424" cy="4662678"/>
            </a:xfrm>
            <a:custGeom>
              <a:avLst/>
              <a:gdLst/>
              <a:ahLst/>
              <a:cxnLst/>
              <a:rect r="r" b="b" t="t" l="l"/>
              <a:pathLst>
                <a:path h="4662678" w="4662424">
                  <a:moveTo>
                    <a:pt x="1407922" y="3947033"/>
                  </a:moveTo>
                  <a:cubicBezTo>
                    <a:pt x="1454023" y="3900932"/>
                    <a:pt x="1477137" y="3854704"/>
                    <a:pt x="1500251" y="3808603"/>
                  </a:cubicBezTo>
                  <a:cubicBezTo>
                    <a:pt x="2331212" y="4662678"/>
                    <a:pt x="2331212" y="4662678"/>
                    <a:pt x="2331212" y="4662678"/>
                  </a:cubicBezTo>
                  <a:cubicBezTo>
                    <a:pt x="3046730" y="3947160"/>
                    <a:pt x="3046730" y="3947160"/>
                    <a:pt x="3046730" y="3947160"/>
                  </a:cubicBezTo>
                  <a:cubicBezTo>
                    <a:pt x="2792857" y="3693287"/>
                    <a:pt x="2792857" y="3277743"/>
                    <a:pt x="3046730" y="3046984"/>
                  </a:cubicBezTo>
                  <a:cubicBezTo>
                    <a:pt x="3300603" y="2793111"/>
                    <a:pt x="3693033" y="2793111"/>
                    <a:pt x="3946906" y="3046984"/>
                  </a:cubicBezTo>
                  <a:cubicBezTo>
                    <a:pt x="4662424" y="2331466"/>
                    <a:pt x="4662424" y="2331466"/>
                    <a:pt x="4662424" y="2331466"/>
                  </a:cubicBezTo>
                  <a:cubicBezTo>
                    <a:pt x="3831463" y="1500505"/>
                    <a:pt x="3831463" y="1500505"/>
                    <a:pt x="3831463" y="1500505"/>
                  </a:cubicBezTo>
                  <a:cubicBezTo>
                    <a:pt x="3854577" y="1477391"/>
                    <a:pt x="3900678" y="1454404"/>
                    <a:pt x="3923792" y="1431290"/>
                  </a:cubicBezTo>
                  <a:cubicBezTo>
                    <a:pt x="4108450" y="1223518"/>
                    <a:pt x="4108450" y="923544"/>
                    <a:pt x="3923792" y="738886"/>
                  </a:cubicBezTo>
                  <a:cubicBezTo>
                    <a:pt x="3739134" y="554228"/>
                    <a:pt x="3439033" y="554228"/>
                    <a:pt x="3254375" y="738886"/>
                  </a:cubicBezTo>
                  <a:cubicBezTo>
                    <a:pt x="3231261" y="762000"/>
                    <a:pt x="3185160" y="808101"/>
                    <a:pt x="3162046" y="854329"/>
                  </a:cubicBezTo>
                  <a:cubicBezTo>
                    <a:pt x="2331212" y="0"/>
                    <a:pt x="2331212" y="0"/>
                    <a:pt x="2331212" y="0"/>
                  </a:cubicBezTo>
                  <a:cubicBezTo>
                    <a:pt x="1638808" y="715518"/>
                    <a:pt x="1638808" y="715518"/>
                    <a:pt x="1638808" y="715518"/>
                  </a:cubicBezTo>
                  <a:cubicBezTo>
                    <a:pt x="1869567" y="946277"/>
                    <a:pt x="1869567" y="1361821"/>
                    <a:pt x="1615694" y="1615694"/>
                  </a:cubicBezTo>
                  <a:cubicBezTo>
                    <a:pt x="1361821" y="1846453"/>
                    <a:pt x="969391" y="1846453"/>
                    <a:pt x="715518" y="1615694"/>
                  </a:cubicBezTo>
                  <a:cubicBezTo>
                    <a:pt x="0" y="2331212"/>
                    <a:pt x="0" y="2331212"/>
                    <a:pt x="0" y="2331212"/>
                  </a:cubicBezTo>
                  <a:cubicBezTo>
                    <a:pt x="854075" y="3185287"/>
                    <a:pt x="854075" y="3185287"/>
                    <a:pt x="854075" y="3185287"/>
                  </a:cubicBezTo>
                  <a:cubicBezTo>
                    <a:pt x="807974" y="3185287"/>
                    <a:pt x="761746" y="3231388"/>
                    <a:pt x="738632" y="3254502"/>
                  </a:cubicBezTo>
                  <a:cubicBezTo>
                    <a:pt x="530860" y="3462274"/>
                    <a:pt x="530860" y="3762248"/>
                    <a:pt x="738632" y="3946906"/>
                  </a:cubicBezTo>
                  <a:cubicBezTo>
                    <a:pt x="923290" y="4131564"/>
                    <a:pt x="1223391" y="4131564"/>
                    <a:pt x="1408049" y="394690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38F2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541656" y="5721960"/>
            <a:ext cx="1892041" cy="1892033"/>
            <a:chOff x="0" y="0"/>
            <a:chExt cx="6350000" cy="63499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l="0" t="-22105" r="-7761" b="-47132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7739290" y="754390"/>
            <a:ext cx="1020147" cy="1215933"/>
          </a:xfrm>
          <a:custGeom>
            <a:avLst/>
            <a:gdLst/>
            <a:ahLst/>
            <a:cxnLst/>
            <a:rect r="r" b="b" t="t" l="l"/>
            <a:pathLst>
              <a:path h="1215933" w="1020147">
                <a:moveTo>
                  <a:pt x="0" y="0"/>
                </a:moveTo>
                <a:lnTo>
                  <a:pt x="1020147" y="0"/>
                </a:lnTo>
                <a:lnTo>
                  <a:pt x="1020147" y="1215933"/>
                </a:lnTo>
                <a:lnTo>
                  <a:pt x="0" y="12159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759437" y="951123"/>
            <a:ext cx="6839384" cy="10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>
                <a:solidFill>
                  <a:srgbClr val="6B38F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SafeSpace Team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05303" y="4932497"/>
            <a:ext cx="2814669" cy="34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b="true" sz="1768" spc="-35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Rowayda  El-Bayar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49461" y="4932497"/>
            <a:ext cx="2989079" cy="34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b="true" sz="1768" spc="-35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Tasneem Mohamed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95204" y="4932497"/>
            <a:ext cx="2167849" cy="34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b="true" sz="1768" spc="-35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Ahmad Behiry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39761" y="4932497"/>
            <a:ext cx="1801612" cy="345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1"/>
              </a:lnSpc>
            </a:pPr>
            <a:r>
              <a:rPr lang="en-US" b="true" sz="1768" spc="-35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Ali Sakr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23326" y="7846444"/>
            <a:ext cx="2735996" cy="34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b="true" sz="1753" spc="-35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Jana Awad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99237" y="7846444"/>
            <a:ext cx="2329578" cy="34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</a:pPr>
            <a:r>
              <a:rPr lang="en-US" b="true" sz="1753" spc="-35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Youssef  Gomaa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573622" y="7822959"/>
            <a:ext cx="1896990" cy="38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1"/>
              </a:lnSpc>
            </a:pPr>
            <a:r>
              <a:rPr lang="en-US" b="true" sz="1936" spc="-38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Ali Saad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0838" y="7848457"/>
            <a:ext cx="3252243" cy="35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b="true" sz="1831" spc="-36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Mahmoud </a:t>
            </a:r>
            <a:r>
              <a:rPr lang="en-US" b="true" sz="1831" spc="-36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Abo </a:t>
            </a:r>
            <a:r>
              <a:rPr lang="en-US" b="true" sz="1831" spc="-36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Elnaga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79129" y="7807907"/>
            <a:ext cx="2708623" cy="38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2"/>
              </a:lnSpc>
            </a:pPr>
            <a:r>
              <a:rPr lang="en-US" b="true" sz="1943" spc="-38">
                <a:solidFill>
                  <a:srgbClr val="E2D9F3"/>
                </a:solidFill>
                <a:latin typeface="Poppins Bold"/>
                <a:ea typeface="Poppins Bold"/>
                <a:cs typeface="Poppins Bold"/>
                <a:sym typeface="Poppins Bold"/>
              </a:rPr>
              <a:t>Mohamed Sabry </a:t>
            </a:r>
          </a:p>
        </p:txBody>
      </p:sp>
    </p:spTree>
  </p:cSld>
  <p:clrMapOvr>
    <a:masterClrMapping/>
  </p:clrMapOvr>
  <p:transition spd="slow">
    <p:wipe dir="u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15000">
              <a:srgbClr val="46289B">
                <a:alpha val="100000"/>
              </a:srgbClr>
            </a:gs>
            <a:gs pos="50000">
              <a:srgbClr val="000000">
                <a:alpha val="100000"/>
              </a:srgbClr>
            </a:gs>
            <a:gs pos="85000">
              <a:srgbClr val="00000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08562" y="2392523"/>
            <a:ext cx="5558876" cy="555887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A38F2">
                    <a:alpha val="100000"/>
                  </a:srgbClr>
                </a:gs>
                <a:gs pos="100000">
                  <a:srgbClr val="100F1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79438" y="2364062"/>
            <a:ext cx="5558876" cy="55588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00F18">
                    <a:alpha val="100000"/>
                  </a:srgbClr>
                </a:gs>
                <a:gs pos="100000">
                  <a:srgbClr val="6A38F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197761" y="2085190"/>
            <a:ext cx="4007417" cy="4007417"/>
          </a:xfrm>
          <a:custGeom>
            <a:avLst/>
            <a:gdLst/>
            <a:ahLst/>
            <a:cxnLst/>
            <a:rect r="r" b="b" t="t" l="l"/>
            <a:pathLst>
              <a:path h="4007417" w="4007417">
                <a:moveTo>
                  <a:pt x="0" y="0"/>
                </a:moveTo>
                <a:lnTo>
                  <a:pt x="4007417" y="0"/>
                </a:lnTo>
                <a:lnTo>
                  <a:pt x="4007417" y="4007417"/>
                </a:lnTo>
                <a:lnTo>
                  <a:pt x="0" y="4007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23257" y="7922938"/>
            <a:ext cx="1841485" cy="1882774"/>
          </a:xfrm>
          <a:custGeom>
            <a:avLst/>
            <a:gdLst/>
            <a:ahLst/>
            <a:cxnLst/>
            <a:rect r="r" b="b" t="t" l="l"/>
            <a:pathLst>
              <a:path h="1882774" w="1841485">
                <a:moveTo>
                  <a:pt x="0" y="0"/>
                </a:moveTo>
                <a:lnTo>
                  <a:pt x="1841486" y="0"/>
                </a:lnTo>
                <a:lnTo>
                  <a:pt x="1841486" y="1882774"/>
                </a:lnTo>
                <a:lnTo>
                  <a:pt x="0" y="1882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46393" y="6488328"/>
            <a:ext cx="6766663" cy="146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49"/>
              </a:lnSpc>
            </a:pPr>
            <a:r>
              <a:rPr lang="en-US" sz="8099">
                <a:solidFill>
                  <a:srgbClr val="4E2DA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897072" y="1784501"/>
            <a:ext cx="4608794" cy="4608794"/>
          </a:xfrm>
          <a:custGeom>
            <a:avLst/>
            <a:gdLst/>
            <a:ahLst/>
            <a:cxnLst/>
            <a:rect r="r" b="b" t="t" l="l"/>
            <a:pathLst>
              <a:path h="4608794" w="4608794">
                <a:moveTo>
                  <a:pt x="0" y="0"/>
                </a:moveTo>
                <a:lnTo>
                  <a:pt x="4608794" y="0"/>
                </a:lnTo>
                <a:lnTo>
                  <a:pt x="4608794" y="4608795"/>
                </a:lnTo>
                <a:lnTo>
                  <a:pt x="0" y="46087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DAHMHOt9ajE</dc:identifier>
  <dcterms:modified xsi:type="dcterms:W3CDTF">2011-08-01T06:04:30Z</dcterms:modified>
  <cp:revision>1</cp:revision>
  <dc:title>SafeSpace Presentation</dc:title>
</cp:coreProperties>
</file>