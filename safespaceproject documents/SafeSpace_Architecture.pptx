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backend of SafeSpace is built using FastAPI in Python. Its main role is to receive requests from the Flutter application, process them, and return structured results back to the user interface. When the user submits a reflection or assessment, the backend runs the AI pipeline. One part analyzes the DASS-42 survey answers, another part analyzes the journal text, and then the system combines the results to generate a final emotional profile. After that, the recommendation engine adds the severity level, detected cause, and crisis-related handling if needed. The backend also communicates with PostgreSQL, which is used to store analyses, journal entries, check-ins, and history data. This allows the application to keep records and show previous activity to the user. In short, the backend is the core processing layer of the system, connecting the mobile app to the AI logic and the database.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deployment of SafeSpace is done using Docker and Hugging Face Spaces. We package the backend into a container so that the application runs in a consistent environment, regardless of where it is deployed. Inside the container, Uvicorn starts the FastAPI application and exposes it as a web service. Hugging Face Spaces hosts this container and makes the backend available through a public API endpoint. The Flutter app then sends requests to that endpoint whenever the user submits text, survey answers, check-ins, or journal data. This deployment approach is practical because it simplifies hosting, keeps the backend reproducible, and supports AI-based applications that need a cloud runtime. It also makes it easier to update the backend without changing the mobile app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1-10.png"/><Relationship Id="rId11" Type="http://schemas.openxmlformats.org/officeDocument/2006/relationships/image" Target="../media/image-1-11.png"/><Relationship Id="rId12" Type="http://schemas.openxmlformats.org/officeDocument/2006/relationships/image" Target="../media/image-1-12.png"/><Relationship Id="rId13" Type="http://schemas.openxmlformats.org/officeDocument/2006/relationships/slideLayout" Target="../slideLayouts/slideLayout1.xml"/><Relationship Id="rId1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2-10.png"/><Relationship Id="rId11" Type="http://schemas.openxmlformats.org/officeDocument/2006/relationships/image" Target="../media/image-2-11.png"/><Relationship Id="rId12" Type="http://schemas.openxmlformats.org/officeDocument/2006/relationships/image" Target="../media/image-2-12.png"/><Relationship Id="rId13" Type="http://schemas.openxmlformats.org/officeDocument/2006/relationships/image" Target="../media/image-2-13.png"/><Relationship Id="rId14" Type="http://schemas.openxmlformats.org/officeDocument/2006/relationships/image" Target="../media/image-2-14.png"/><Relationship Id="rId15" Type="http://schemas.openxmlformats.org/officeDocument/2006/relationships/image" Target="../media/image-2-15.png"/><Relationship Id="rId16" Type="http://schemas.openxmlformats.org/officeDocument/2006/relationships/image" Target="../media/image-2-16.png"/><Relationship Id="rId17" Type="http://schemas.openxmlformats.org/officeDocument/2006/relationships/slideLayout" Target="../slideLayouts/slideLayout1.xml"/><Relationship Id="rId18"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7315200" cy="731520"/>
          </a:xfrm>
          <a:prstGeom prst="rect">
            <a:avLst/>
          </a:prstGeom>
          <a:noFill/>
          <a:ln/>
        </p:spPr>
        <p:txBody>
          <a:bodyPr wrap="square" lIns="0" tIns="0" rIns="0" bIns="0" rtlCol="0" anchor="ctr"/>
          <a:lstStyle/>
          <a:p>
            <a:pPr indent="0" marL="0">
              <a:buNone/>
            </a:pPr>
            <a:r>
              <a:rPr lang="en-US" sz="3200" b="1" dirty="0">
                <a:solidFill>
                  <a:srgbClr val="0B3D3F"/>
                </a:solidFill>
                <a:latin typeface="Cambria" pitchFamily="34" charset="0"/>
                <a:ea typeface="Cambria" pitchFamily="34" charset="-122"/>
                <a:cs typeface="Cambria" pitchFamily="34" charset="-120"/>
              </a:rPr>
              <a:t>Backend Architecture</a:t>
            </a:r>
            <a:endParaRPr lang="en-US" sz="3200" dirty="0"/>
          </a:p>
        </p:txBody>
      </p:sp>
      <p:sp>
        <p:nvSpPr>
          <p:cNvPr id="3" name="Text 1"/>
          <p:cNvSpPr/>
          <p:nvPr/>
        </p:nvSpPr>
        <p:spPr>
          <a:xfrm>
            <a:off x="548640" y="1005840"/>
            <a:ext cx="7772400" cy="36576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How requests flow from the Flutter app through FastAPI, AI models, and PostgreSQL</a:t>
            </a:r>
            <a:endParaRPr lang="en-US" sz="1300" dirty="0"/>
          </a:p>
        </p:txBody>
      </p:sp>
      <p:sp>
        <p:nvSpPr>
          <p:cNvPr id="4" name="Shape 2"/>
          <p:cNvSpPr/>
          <p:nvPr/>
        </p:nvSpPr>
        <p:spPr>
          <a:xfrm>
            <a:off x="548640" y="1783080"/>
            <a:ext cx="457200" cy="457200"/>
          </a:xfrm>
          <a:prstGeom prst="ellipse">
            <a:avLst/>
          </a:prstGeom>
          <a:solidFill>
            <a:srgbClr val="028090"/>
          </a:solidFill>
          <a:ln/>
        </p:spPr>
      </p:sp>
      <p:pic>
        <p:nvPicPr>
          <p:cNvPr id="5" name="Image 0" descr="preencoded.png">    </p:cNvPr>
          <p:cNvPicPr>
            <a:picLocks noChangeAspect="1"/>
          </p:cNvPicPr>
          <p:nvPr/>
        </p:nvPicPr>
        <p:blipFill>
          <a:blip r:embed="rId1"/>
          <a:stretch>
            <a:fillRect/>
          </a:stretch>
        </p:blipFill>
        <p:spPr>
          <a:xfrm>
            <a:off x="667512" y="1901952"/>
            <a:ext cx="219456" cy="219456"/>
          </a:xfrm>
          <a:prstGeom prst="rect">
            <a:avLst/>
          </a:prstGeom>
        </p:spPr>
      </p:pic>
      <p:sp>
        <p:nvSpPr>
          <p:cNvPr id="6" name="Text 3"/>
          <p:cNvSpPr/>
          <p:nvPr/>
        </p:nvSpPr>
        <p:spPr>
          <a:xfrm>
            <a:off x="1188720" y="1783080"/>
            <a:ext cx="4572000" cy="45720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FastAPI handles backend requests</a:t>
            </a:r>
            <a:endParaRPr lang="en-US" sz="1400" dirty="0"/>
          </a:p>
        </p:txBody>
      </p:sp>
      <p:sp>
        <p:nvSpPr>
          <p:cNvPr id="7" name="Shape 4"/>
          <p:cNvSpPr/>
          <p:nvPr/>
        </p:nvSpPr>
        <p:spPr>
          <a:xfrm>
            <a:off x="548640" y="2651760"/>
            <a:ext cx="457200" cy="457200"/>
          </a:xfrm>
          <a:prstGeom prst="ellipse">
            <a:avLst/>
          </a:prstGeom>
          <a:solidFill>
            <a:srgbClr val="028090"/>
          </a:solidFill>
          <a:ln/>
        </p:spPr>
      </p:sp>
      <p:pic>
        <p:nvPicPr>
          <p:cNvPr id="8" name="Image 1" descr="preencoded.png">    </p:cNvPr>
          <p:cNvPicPr>
            <a:picLocks noChangeAspect="1"/>
          </p:cNvPicPr>
          <p:nvPr/>
        </p:nvPicPr>
        <p:blipFill>
          <a:blip r:embed="rId2"/>
          <a:stretch>
            <a:fillRect/>
          </a:stretch>
        </p:blipFill>
        <p:spPr>
          <a:xfrm>
            <a:off x="667512" y="2770632"/>
            <a:ext cx="219456" cy="219456"/>
          </a:xfrm>
          <a:prstGeom prst="rect">
            <a:avLst/>
          </a:prstGeom>
        </p:spPr>
      </p:pic>
      <p:sp>
        <p:nvSpPr>
          <p:cNvPr id="9" name="Text 5"/>
          <p:cNvSpPr/>
          <p:nvPr/>
        </p:nvSpPr>
        <p:spPr>
          <a:xfrm>
            <a:off x="1188720" y="2651760"/>
            <a:ext cx="4572000" cy="45720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AI models run on the server</a:t>
            </a:r>
            <a:endParaRPr lang="en-US" sz="1400" dirty="0"/>
          </a:p>
        </p:txBody>
      </p:sp>
      <p:sp>
        <p:nvSpPr>
          <p:cNvPr id="10" name="Shape 6"/>
          <p:cNvSpPr/>
          <p:nvPr/>
        </p:nvSpPr>
        <p:spPr>
          <a:xfrm>
            <a:off x="548640" y="3520440"/>
            <a:ext cx="457200" cy="457200"/>
          </a:xfrm>
          <a:prstGeom prst="ellipse">
            <a:avLst/>
          </a:prstGeom>
          <a:solidFill>
            <a:srgbClr val="028090"/>
          </a:solidFill>
          <a:ln/>
        </p:spPr>
      </p:sp>
      <p:pic>
        <p:nvPicPr>
          <p:cNvPr id="11" name="Image 2" descr="preencoded.png">    </p:cNvPr>
          <p:cNvPicPr>
            <a:picLocks noChangeAspect="1"/>
          </p:cNvPicPr>
          <p:nvPr/>
        </p:nvPicPr>
        <p:blipFill>
          <a:blip r:embed="rId3"/>
          <a:stretch>
            <a:fillRect/>
          </a:stretch>
        </p:blipFill>
        <p:spPr>
          <a:xfrm>
            <a:off x="667512" y="3639312"/>
            <a:ext cx="219456" cy="219456"/>
          </a:xfrm>
          <a:prstGeom prst="rect">
            <a:avLst/>
          </a:prstGeom>
        </p:spPr>
      </p:pic>
      <p:sp>
        <p:nvSpPr>
          <p:cNvPr id="12" name="Text 7"/>
          <p:cNvSpPr/>
          <p:nvPr/>
        </p:nvSpPr>
        <p:spPr>
          <a:xfrm>
            <a:off x="1188720" y="3520440"/>
            <a:ext cx="4572000" cy="45720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PostgreSQL stores analyses, journals, and check-ins</a:t>
            </a:r>
            <a:endParaRPr lang="en-US" sz="1400" dirty="0"/>
          </a:p>
        </p:txBody>
      </p:sp>
      <p:sp>
        <p:nvSpPr>
          <p:cNvPr id="13" name="Shape 8"/>
          <p:cNvSpPr/>
          <p:nvPr/>
        </p:nvSpPr>
        <p:spPr>
          <a:xfrm>
            <a:off x="548640" y="4389120"/>
            <a:ext cx="457200" cy="457200"/>
          </a:xfrm>
          <a:prstGeom prst="ellipse">
            <a:avLst/>
          </a:prstGeom>
          <a:solidFill>
            <a:srgbClr val="028090"/>
          </a:solidFill>
          <a:ln/>
        </p:spPr>
      </p:sp>
      <p:pic>
        <p:nvPicPr>
          <p:cNvPr id="14" name="Image 3" descr="preencoded.png">    </p:cNvPr>
          <p:cNvPicPr>
            <a:picLocks noChangeAspect="1"/>
          </p:cNvPicPr>
          <p:nvPr/>
        </p:nvPicPr>
        <p:blipFill>
          <a:blip r:embed="rId4"/>
          <a:stretch>
            <a:fillRect/>
          </a:stretch>
        </p:blipFill>
        <p:spPr>
          <a:xfrm>
            <a:off x="667512" y="4507992"/>
            <a:ext cx="219456" cy="219456"/>
          </a:xfrm>
          <a:prstGeom prst="rect">
            <a:avLst/>
          </a:prstGeom>
        </p:spPr>
      </p:pic>
      <p:sp>
        <p:nvSpPr>
          <p:cNvPr id="15" name="Text 9"/>
          <p:cNvSpPr/>
          <p:nvPr/>
        </p:nvSpPr>
        <p:spPr>
          <a:xfrm>
            <a:off x="1188720" y="4389120"/>
            <a:ext cx="4572000" cy="45720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The backend returns structured JSON to the Flutter app</a:t>
            </a:r>
            <a:endParaRPr lang="en-US" sz="1400" dirty="0"/>
          </a:p>
        </p:txBody>
      </p:sp>
      <p:sp>
        <p:nvSpPr>
          <p:cNvPr id="16" name="Shape 10"/>
          <p:cNvSpPr/>
          <p:nvPr/>
        </p:nvSpPr>
        <p:spPr>
          <a:xfrm>
            <a:off x="548640" y="5257800"/>
            <a:ext cx="457200" cy="457200"/>
          </a:xfrm>
          <a:prstGeom prst="ellipse">
            <a:avLst/>
          </a:prstGeom>
          <a:solidFill>
            <a:srgbClr val="028090"/>
          </a:solidFill>
          <a:ln/>
        </p:spPr>
      </p:sp>
      <p:pic>
        <p:nvPicPr>
          <p:cNvPr id="17" name="Image 4" descr="preencoded.png">    </p:cNvPr>
          <p:cNvPicPr>
            <a:picLocks noChangeAspect="1"/>
          </p:cNvPicPr>
          <p:nvPr/>
        </p:nvPicPr>
        <p:blipFill>
          <a:blip r:embed="rId5"/>
          <a:stretch>
            <a:fillRect/>
          </a:stretch>
        </p:blipFill>
        <p:spPr>
          <a:xfrm>
            <a:off x="667512" y="5376672"/>
            <a:ext cx="219456" cy="219456"/>
          </a:xfrm>
          <a:prstGeom prst="rect">
            <a:avLst/>
          </a:prstGeom>
        </p:spPr>
      </p:pic>
      <p:sp>
        <p:nvSpPr>
          <p:cNvPr id="18" name="Text 11"/>
          <p:cNvSpPr/>
          <p:nvPr/>
        </p:nvSpPr>
        <p:spPr>
          <a:xfrm>
            <a:off x="1188720" y="5257800"/>
            <a:ext cx="4572000" cy="45720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Recommendation logic adds severity, cause, and crisis handling</a:t>
            </a:r>
            <a:endParaRPr lang="en-US" sz="1400" dirty="0"/>
          </a:p>
        </p:txBody>
      </p:sp>
      <p:sp>
        <p:nvSpPr>
          <p:cNvPr id="19" name="Shape 12"/>
          <p:cNvSpPr/>
          <p:nvPr/>
        </p:nvSpPr>
        <p:spPr>
          <a:xfrm>
            <a:off x="6309360" y="411480"/>
            <a:ext cx="5486400" cy="6035040"/>
          </a:xfrm>
          <a:prstGeom prst="roundRect">
            <a:avLst>
              <a:gd name="adj" fmla="val 1333"/>
            </a:avLst>
          </a:prstGeom>
          <a:solidFill>
            <a:srgbClr val="F4FAF9"/>
          </a:solidFill>
          <a:ln/>
          <a:effectLst>
            <a:outerShdw sx="100000" sy="100000" kx="0" ky="0" algn="bl" rotWithShape="0" blurRad="101600" dist="38100" dir="2700000">
              <a:srgbClr val="000000">
                <a:alpha val="12000"/>
              </a:srgbClr>
            </a:outerShdw>
          </a:effectLst>
        </p:spPr>
      </p:sp>
      <p:sp>
        <p:nvSpPr>
          <p:cNvPr id="20" name="Text 13"/>
          <p:cNvSpPr/>
          <p:nvPr/>
        </p:nvSpPr>
        <p:spPr>
          <a:xfrm>
            <a:off x="6629400" y="640080"/>
            <a:ext cx="4846320" cy="365760"/>
          </a:xfrm>
          <a:prstGeom prst="rect">
            <a:avLst/>
          </a:prstGeom>
          <a:noFill/>
          <a:ln/>
        </p:spPr>
        <p:txBody>
          <a:bodyPr wrap="square" lIns="0" tIns="0" rIns="0" bIns="0" rtlCol="0" anchor="ctr"/>
          <a:lstStyle/>
          <a:p>
            <a:pPr indent="0" marL="0">
              <a:buNone/>
            </a:pPr>
            <a:r>
              <a:rPr lang="en-US" sz="1400" b="1" dirty="0">
                <a:solidFill>
                  <a:srgbClr val="0B3D3F"/>
                </a:solidFill>
                <a:latin typeface="Calibri" pitchFamily="34" charset="0"/>
                <a:ea typeface="Calibri" pitchFamily="34" charset="-122"/>
                <a:cs typeface="Calibri" pitchFamily="34" charset="-120"/>
              </a:rPr>
              <a:t>System Flow</a:t>
            </a:r>
            <a:endParaRPr lang="en-US" sz="1400" dirty="0"/>
          </a:p>
        </p:txBody>
      </p:sp>
      <p:sp>
        <p:nvSpPr>
          <p:cNvPr id="21" name="Shape 14"/>
          <p:cNvSpPr/>
          <p:nvPr/>
        </p:nvSpPr>
        <p:spPr>
          <a:xfrm>
            <a:off x="6949440" y="1188720"/>
            <a:ext cx="4206240" cy="685800"/>
          </a:xfrm>
          <a:prstGeom prst="roundRect">
            <a:avLst>
              <a:gd name="adj" fmla="val 8000"/>
            </a:avLst>
          </a:prstGeom>
          <a:solidFill>
            <a:srgbClr val="0B3D3F"/>
          </a:solidFill>
          <a:ln/>
          <a:effectLst>
            <a:outerShdw sx="100000" sy="100000" kx="0" ky="0" algn="bl" rotWithShape="0" blurRad="50800" dist="19050" dir="2700000">
              <a:srgbClr val="000000">
                <a:alpha val="15000"/>
              </a:srgbClr>
            </a:outerShdw>
          </a:effectLst>
        </p:spPr>
      </p:sp>
      <p:pic>
        <p:nvPicPr>
          <p:cNvPr id="22" name="Image 5" descr="preencoded.png">    </p:cNvPr>
          <p:cNvPicPr>
            <a:picLocks noChangeAspect="1"/>
          </p:cNvPicPr>
          <p:nvPr/>
        </p:nvPicPr>
        <p:blipFill>
          <a:blip r:embed="rId6"/>
          <a:stretch>
            <a:fillRect/>
          </a:stretch>
        </p:blipFill>
        <p:spPr>
          <a:xfrm>
            <a:off x="7059168" y="1303020"/>
            <a:ext cx="457200" cy="457200"/>
          </a:xfrm>
          <a:prstGeom prst="rect">
            <a:avLst/>
          </a:prstGeom>
        </p:spPr>
      </p:pic>
      <p:sp>
        <p:nvSpPr>
          <p:cNvPr id="23" name="Text 15"/>
          <p:cNvSpPr/>
          <p:nvPr/>
        </p:nvSpPr>
        <p:spPr>
          <a:xfrm>
            <a:off x="7589520" y="1188720"/>
            <a:ext cx="3456432" cy="411480"/>
          </a:xfrm>
          <a:prstGeom prst="rect">
            <a:avLst/>
          </a:prstGeom>
          <a:noFill/>
          <a:ln/>
        </p:spPr>
        <p:txBody>
          <a:bodyPr wrap="square" lIns="0" tIns="0" rIns="0" bIns="0" rtlCol="0" anchor="b"/>
          <a:lstStyle/>
          <a:p>
            <a:pPr indent="0" marL="0">
              <a:buNone/>
            </a:pPr>
            <a:r>
              <a:rPr lang="en-US" sz="1150" b="1" dirty="0">
                <a:solidFill>
                  <a:srgbClr val="FFFFFF"/>
                </a:solidFill>
                <a:latin typeface="Calibri" pitchFamily="34" charset="0"/>
                <a:ea typeface="Calibri" pitchFamily="34" charset="-122"/>
                <a:cs typeface="Calibri" pitchFamily="34" charset="-120"/>
              </a:rPr>
              <a:t>Flutter Mobile App</a:t>
            </a:r>
            <a:endParaRPr lang="en-US" sz="1150" dirty="0"/>
          </a:p>
        </p:txBody>
      </p:sp>
      <p:sp>
        <p:nvSpPr>
          <p:cNvPr id="24" name="Text 16"/>
          <p:cNvSpPr/>
          <p:nvPr/>
        </p:nvSpPr>
        <p:spPr>
          <a:xfrm>
            <a:off x="7589520" y="1565910"/>
            <a:ext cx="3456432" cy="274320"/>
          </a:xfrm>
          <a:prstGeom prst="rect">
            <a:avLst/>
          </a:prstGeom>
          <a:noFill/>
          <a:ln/>
        </p:spPr>
        <p:txBody>
          <a:bodyPr wrap="square" lIns="0" tIns="0" rIns="0" bIns="0" rtlCol="0" anchor="t"/>
          <a:lstStyle/>
          <a:p>
            <a:pPr indent="0" marL="0">
              <a:buNone/>
            </a:pPr>
            <a:r>
              <a:rPr lang="en-US" sz="850" dirty="0">
                <a:solidFill>
                  <a:srgbClr val="FFFFFF">
                    <a:alpha val="90000"/>
                  </a:srgbClr>
                </a:solidFill>
                <a:latin typeface="Calibri" pitchFamily="34" charset="0"/>
                <a:ea typeface="Calibri" pitchFamily="34" charset="-122"/>
                <a:cs typeface="Calibri" pitchFamily="34" charset="-120"/>
              </a:rPr>
              <a:t>Sends requests &amp; receives JSON</a:t>
            </a:r>
            <a:endParaRPr lang="en-US" sz="850" dirty="0"/>
          </a:p>
        </p:txBody>
      </p:sp>
      <p:pic>
        <p:nvPicPr>
          <p:cNvPr id="25" name="Image 6" descr="preencoded.png">    </p:cNvPr>
          <p:cNvPicPr>
            <a:picLocks noChangeAspect="1"/>
          </p:cNvPicPr>
          <p:nvPr/>
        </p:nvPicPr>
        <p:blipFill>
          <a:blip r:embed="rId7"/>
          <a:stretch>
            <a:fillRect/>
          </a:stretch>
        </p:blipFill>
        <p:spPr>
          <a:xfrm rot="5400000">
            <a:off x="8942832" y="1929384"/>
            <a:ext cx="219456" cy="219456"/>
          </a:xfrm>
          <a:prstGeom prst="rect">
            <a:avLst/>
          </a:prstGeom>
        </p:spPr>
      </p:pic>
      <p:sp>
        <p:nvSpPr>
          <p:cNvPr id="26" name="Shape 17"/>
          <p:cNvSpPr/>
          <p:nvPr/>
        </p:nvSpPr>
        <p:spPr>
          <a:xfrm>
            <a:off x="6903720" y="2221992"/>
            <a:ext cx="4297680" cy="2331720"/>
          </a:xfrm>
          <a:prstGeom prst="roundRect">
            <a:avLst>
              <a:gd name="adj" fmla="val 2353"/>
            </a:avLst>
          </a:prstGeom>
          <a:solidFill>
            <a:srgbClr val="00A896"/>
          </a:solidFill>
          <a:ln/>
          <a:effectLst>
            <a:outerShdw sx="100000" sy="100000" kx="0" ky="0" algn="bl" rotWithShape="0" blurRad="50800" dist="19050" dir="2700000">
              <a:srgbClr val="000000">
                <a:alpha val="15000"/>
              </a:srgbClr>
            </a:outerShdw>
          </a:effectLst>
        </p:spPr>
      </p:sp>
      <p:sp>
        <p:nvSpPr>
          <p:cNvPr id="27" name="Text 18"/>
          <p:cNvSpPr/>
          <p:nvPr/>
        </p:nvSpPr>
        <p:spPr>
          <a:xfrm>
            <a:off x="7040880" y="2295144"/>
            <a:ext cx="4023360" cy="32004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FastAPI Backend</a:t>
            </a:r>
            <a:endParaRPr lang="en-US" sz="1250" dirty="0"/>
          </a:p>
        </p:txBody>
      </p:sp>
      <p:sp>
        <p:nvSpPr>
          <p:cNvPr id="28" name="Shape 19"/>
          <p:cNvSpPr/>
          <p:nvPr/>
        </p:nvSpPr>
        <p:spPr>
          <a:xfrm>
            <a:off x="7040880" y="2697480"/>
            <a:ext cx="1920240" cy="502920"/>
          </a:xfrm>
          <a:prstGeom prst="roundRect">
            <a:avLst>
              <a:gd name="adj" fmla="val 10909"/>
            </a:avLst>
          </a:prstGeom>
          <a:solidFill>
            <a:srgbClr val="028090"/>
          </a:solidFill>
          <a:ln/>
          <a:effectLst>
            <a:outerShdw sx="100000" sy="100000" kx="0" ky="0" algn="bl" rotWithShape="0" blurRad="50800" dist="19050" dir="2700000">
              <a:srgbClr val="000000">
                <a:alpha val="15000"/>
              </a:srgbClr>
            </a:outerShdw>
          </a:effectLst>
        </p:spPr>
      </p:sp>
      <p:pic>
        <p:nvPicPr>
          <p:cNvPr id="29" name="Image 7" descr="preencoded.png">    </p:cNvPr>
          <p:cNvPicPr>
            <a:picLocks noChangeAspect="1"/>
          </p:cNvPicPr>
          <p:nvPr/>
        </p:nvPicPr>
        <p:blipFill>
          <a:blip r:embed="rId8"/>
          <a:stretch>
            <a:fillRect/>
          </a:stretch>
        </p:blipFill>
        <p:spPr>
          <a:xfrm>
            <a:off x="7150608" y="2811780"/>
            <a:ext cx="274320" cy="274320"/>
          </a:xfrm>
          <a:prstGeom prst="rect">
            <a:avLst/>
          </a:prstGeom>
        </p:spPr>
      </p:pic>
      <p:sp>
        <p:nvSpPr>
          <p:cNvPr id="30" name="Text 20"/>
          <p:cNvSpPr/>
          <p:nvPr/>
        </p:nvSpPr>
        <p:spPr>
          <a:xfrm>
            <a:off x="7498080" y="2697480"/>
            <a:ext cx="1353312" cy="50292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DASS Survey Model</a:t>
            </a:r>
            <a:endParaRPr lang="en-US" sz="1150" dirty="0"/>
          </a:p>
        </p:txBody>
      </p:sp>
      <p:sp>
        <p:nvSpPr>
          <p:cNvPr id="31" name="Shape 21"/>
          <p:cNvSpPr/>
          <p:nvPr/>
        </p:nvSpPr>
        <p:spPr>
          <a:xfrm>
            <a:off x="9052560" y="2697480"/>
            <a:ext cx="1920240" cy="502920"/>
          </a:xfrm>
          <a:prstGeom prst="roundRect">
            <a:avLst>
              <a:gd name="adj" fmla="val 10909"/>
            </a:avLst>
          </a:prstGeom>
          <a:solidFill>
            <a:srgbClr val="028090"/>
          </a:solidFill>
          <a:ln/>
          <a:effectLst>
            <a:outerShdw sx="100000" sy="100000" kx="0" ky="0" algn="bl" rotWithShape="0" blurRad="50800" dist="19050" dir="2700000">
              <a:srgbClr val="000000">
                <a:alpha val="15000"/>
              </a:srgbClr>
            </a:outerShdw>
          </a:effectLst>
        </p:spPr>
      </p:sp>
      <p:pic>
        <p:nvPicPr>
          <p:cNvPr id="32" name="Image 8" descr="preencoded.png">    </p:cNvPr>
          <p:cNvPicPr>
            <a:picLocks noChangeAspect="1"/>
          </p:cNvPicPr>
          <p:nvPr/>
        </p:nvPicPr>
        <p:blipFill>
          <a:blip r:embed="rId9"/>
          <a:stretch>
            <a:fillRect/>
          </a:stretch>
        </p:blipFill>
        <p:spPr>
          <a:xfrm>
            <a:off x="9162288" y="2811780"/>
            <a:ext cx="274320" cy="274320"/>
          </a:xfrm>
          <a:prstGeom prst="rect">
            <a:avLst/>
          </a:prstGeom>
        </p:spPr>
      </p:pic>
      <p:sp>
        <p:nvSpPr>
          <p:cNvPr id="33" name="Text 22"/>
          <p:cNvSpPr/>
          <p:nvPr/>
        </p:nvSpPr>
        <p:spPr>
          <a:xfrm>
            <a:off x="9509760" y="2697480"/>
            <a:ext cx="1353312" cy="50292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NLP Journal Model</a:t>
            </a:r>
            <a:endParaRPr lang="en-US" sz="1150" dirty="0"/>
          </a:p>
        </p:txBody>
      </p:sp>
      <p:sp>
        <p:nvSpPr>
          <p:cNvPr id="34" name="Shape 23"/>
          <p:cNvSpPr/>
          <p:nvPr/>
        </p:nvSpPr>
        <p:spPr>
          <a:xfrm>
            <a:off x="7040880" y="3319272"/>
            <a:ext cx="4023360" cy="502920"/>
          </a:xfrm>
          <a:prstGeom prst="roundRect">
            <a:avLst>
              <a:gd name="adj" fmla="val 10909"/>
            </a:avLst>
          </a:prstGeom>
          <a:solidFill>
            <a:srgbClr val="028090"/>
          </a:solidFill>
          <a:ln/>
          <a:effectLst>
            <a:outerShdw sx="100000" sy="100000" kx="0" ky="0" algn="bl" rotWithShape="0" blurRad="50800" dist="19050" dir="2700000">
              <a:srgbClr val="000000">
                <a:alpha val="15000"/>
              </a:srgbClr>
            </a:outerShdw>
          </a:effectLst>
        </p:spPr>
      </p:sp>
      <p:pic>
        <p:nvPicPr>
          <p:cNvPr id="35" name="Image 9" descr="preencoded.png">    </p:cNvPr>
          <p:cNvPicPr>
            <a:picLocks noChangeAspect="1"/>
          </p:cNvPicPr>
          <p:nvPr/>
        </p:nvPicPr>
        <p:blipFill>
          <a:blip r:embed="rId10"/>
          <a:stretch>
            <a:fillRect/>
          </a:stretch>
        </p:blipFill>
        <p:spPr>
          <a:xfrm>
            <a:off x="7150608" y="3433572"/>
            <a:ext cx="274320" cy="274320"/>
          </a:xfrm>
          <a:prstGeom prst="rect">
            <a:avLst/>
          </a:prstGeom>
        </p:spPr>
      </p:pic>
      <p:sp>
        <p:nvSpPr>
          <p:cNvPr id="36" name="Text 24"/>
          <p:cNvSpPr/>
          <p:nvPr/>
        </p:nvSpPr>
        <p:spPr>
          <a:xfrm>
            <a:off x="7498080" y="3319272"/>
            <a:ext cx="3456432" cy="301752"/>
          </a:xfrm>
          <a:prstGeom prst="rect">
            <a:avLst/>
          </a:prstGeom>
          <a:noFill/>
          <a:ln/>
        </p:spPr>
        <p:txBody>
          <a:bodyPr wrap="square" lIns="0" tIns="0" rIns="0" bIns="0" rtlCol="0" anchor="b"/>
          <a:lstStyle/>
          <a:p>
            <a:pPr indent="0" marL="0">
              <a:buNone/>
            </a:pPr>
            <a:r>
              <a:rPr lang="en-US" sz="1150" b="1" dirty="0">
                <a:solidFill>
                  <a:srgbClr val="FFFFFF"/>
                </a:solidFill>
                <a:latin typeface="Calibri" pitchFamily="34" charset="0"/>
                <a:ea typeface="Calibri" pitchFamily="34" charset="-122"/>
                <a:cs typeface="Calibri" pitchFamily="34" charset="-120"/>
              </a:rPr>
              <a:t>Recommendation Engine</a:t>
            </a:r>
            <a:endParaRPr lang="en-US" sz="1150" dirty="0"/>
          </a:p>
        </p:txBody>
      </p:sp>
      <p:sp>
        <p:nvSpPr>
          <p:cNvPr id="37" name="Text 25"/>
          <p:cNvSpPr/>
          <p:nvPr/>
        </p:nvSpPr>
        <p:spPr>
          <a:xfrm>
            <a:off x="7498080" y="3595878"/>
            <a:ext cx="3456432" cy="201168"/>
          </a:xfrm>
          <a:prstGeom prst="rect">
            <a:avLst/>
          </a:prstGeom>
          <a:noFill/>
          <a:ln/>
        </p:spPr>
        <p:txBody>
          <a:bodyPr wrap="square" lIns="0" tIns="0" rIns="0" bIns="0" rtlCol="0" anchor="t"/>
          <a:lstStyle/>
          <a:p>
            <a:pPr indent="0" marL="0">
              <a:buNone/>
            </a:pPr>
            <a:r>
              <a:rPr lang="en-US" sz="850" dirty="0">
                <a:solidFill>
                  <a:srgbClr val="FFFFFF">
                    <a:alpha val="90000"/>
                  </a:srgbClr>
                </a:solidFill>
                <a:latin typeface="Calibri" pitchFamily="34" charset="0"/>
                <a:ea typeface="Calibri" pitchFamily="34" charset="-122"/>
                <a:cs typeface="Calibri" pitchFamily="34" charset="-120"/>
              </a:rPr>
              <a:t>Severity, cause &amp; crisis handling</a:t>
            </a:r>
            <a:endParaRPr lang="en-US" sz="850" dirty="0"/>
          </a:p>
        </p:txBody>
      </p:sp>
      <p:sp>
        <p:nvSpPr>
          <p:cNvPr id="38" name="Text 26"/>
          <p:cNvSpPr/>
          <p:nvPr/>
        </p:nvSpPr>
        <p:spPr>
          <a:xfrm>
            <a:off x="7040880" y="3867912"/>
            <a:ext cx="4023360" cy="320040"/>
          </a:xfrm>
          <a:prstGeom prst="rect">
            <a:avLst/>
          </a:prstGeom>
          <a:noFill/>
          <a:ln/>
        </p:spPr>
        <p:txBody>
          <a:bodyPr wrap="square" lIns="0" tIns="0" rIns="0" bIns="0" rtlCol="0" anchor="ctr"/>
          <a:lstStyle/>
          <a:p>
            <a:pPr indent="0" marL="0">
              <a:buNone/>
            </a:pPr>
            <a:r>
              <a:rPr lang="en-US" sz="900" i="1" dirty="0">
                <a:solidFill>
                  <a:srgbClr val="FFFFFF">
                    <a:alpha val="85000"/>
                  </a:srgbClr>
                </a:solidFill>
                <a:latin typeface="Calibri" pitchFamily="34" charset="0"/>
                <a:ea typeface="Calibri" pitchFamily="34" charset="-122"/>
                <a:cs typeface="Calibri" pitchFamily="34" charset="-120"/>
              </a:rPr>
              <a:t>Combines model outputs into one emotional profile</a:t>
            </a:r>
            <a:endParaRPr lang="en-US" sz="900" dirty="0"/>
          </a:p>
        </p:txBody>
      </p:sp>
      <p:pic>
        <p:nvPicPr>
          <p:cNvPr id="39" name="Image 10" descr="preencoded.png">    </p:cNvPr>
          <p:cNvPicPr>
            <a:picLocks noChangeAspect="1"/>
          </p:cNvPicPr>
          <p:nvPr/>
        </p:nvPicPr>
        <p:blipFill>
          <a:blip r:embed="rId11"/>
          <a:stretch>
            <a:fillRect/>
          </a:stretch>
        </p:blipFill>
        <p:spPr>
          <a:xfrm rot="5400000">
            <a:off x="8942832" y="4608576"/>
            <a:ext cx="219456" cy="219456"/>
          </a:xfrm>
          <a:prstGeom prst="rect">
            <a:avLst/>
          </a:prstGeom>
        </p:spPr>
      </p:pic>
      <p:sp>
        <p:nvSpPr>
          <p:cNvPr id="40" name="Shape 27"/>
          <p:cNvSpPr/>
          <p:nvPr/>
        </p:nvSpPr>
        <p:spPr>
          <a:xfrm>
            <a:off x="6949440" y="4901184"/>
            <a:ext cx="4206240" cy="685800"/>
          </a:xfrm>
          <a:prstGeom prst="roundRect">
            <a:avLst>
              <a:gd name="adj" fmla="val 8000"/>
            </a:avLst>
          </a:prstGeom>
          <a:solidFill>
            <a:srgbClr val="02C39A"/>
          </a:solidFill>
          <a:ln/>
          <a:effectLst>
            <a:outerShdw sx="100000" sy="100000" kx="0" ky="0" algn="bl" rotWithShape="0" blurRad="50800" dist="19050" dir="2700000">
              <a:srgbClr val="000000">
                <a:alpha val="15000"/>
              </a:srgbClr>
            </a:outerShdw>
          </a:effectLst>
        </p:spPr>
      </p:sp>
      <p:pic>
        <p:nvPicPr>
          <p:cNvPr id="41" name="Image 11" descr="preencoded.png">    </p:cNvPr>
          <p:cNvPicPr>
            <a:picLocks noChangeAspect="1"/>
          </p:cNvPicPr>
          <p:nvPr/>
        </p:nvPicPr>
        <p:blipFill>
          <a:blip r:embed="rId12"/>
          <a:stretch>
            <a:fillRect/>
          </a:stretch>
        </p:blipFill>
        <p:spPr>
          <a:xfrm>
            <a:off x="7059168" y="5015484"/>
            <a:ext cx="457200" cy="457200"/>
          </a:xfrm>
          <a:prstGeom prst="rect">
            <a:avLst/>
          </a:prstGeom>
        </p:spPr>
      </p:pic>
      <p:sp>
        <p:nvSpPr>
          <p:cNvPr id="42" name="Text 28"/>
          <p:cNvSpPr/>
          <p:nvPr/>
        </p:nvSpPr>
        <p:spPr>
          <a:xfrm>
            <a:off x="7589520" y="4901184"/>
            <a:ext cx="3456432" cy="411480"/>
          </a:xfrm>
          <a:prstGeom prst="rect">
            <a:avLst/>
          </a:prstGeom>
          <a:noFill/>
          <a:ln/>
        </p:spPr>
        <p:txBody>
          <a:bodyPr wrap="square" lIns="0" tIns="0" rIns="0" bIns="0" rtlCol="0" anchor="b"/>
          <a:lstStyle/>
          <a:p>
            <a:pPr indent="0" marL="0">
              <a:buNone/>
            </a:pPr>
            <a:r>
              <a:rPr lang="en-US" sz="1150" b="1" dirty="0">
                <a:solidFill>
                  <a:srgbClr val="FFFFFF"/>
                </a:solidFill>
                <a:latin typeface="Calibri" pitchFamily="34" charset="0"/>
                <a:ea typeface="Calibri" pitchFamily="34" charset="-122"/>
                <a:cs typeface="Calibri" pitchFamily="34" charset="-120"/>
              </a:rPr>
              <a:t>PostgreSQL Database</a:t>
            </a:r>
            <a:endParaRPr lang="en-US" sz="1150" dirty="0"/>
          </a:p>
        </p:txBody>
      </p:sp>
      <p:sp>
        <p:nvSpPr>
          <p:cNvPr id="43" name="Text 29"/>
          <p:cNvSpPr/>
          <p:nvPr/>
        </p:nvSpPr>
        <p:spPr>
          <a:xfrm>
            <a:off x="7589520" y="5278374"/>
            <a:ext cx="3456432" cy="274320"/>
          </a:xfrm>
          <a:prstGeom prst="rect">
            <a:avLst/>
          </a:prstGeom>
          <a:noFill/>
          <a:ln/>
        </p:spPr>
        <p:txBody>
          <a:bodyPr wrap="square" lIns="0" tIns="0" rIns="0" bIns="0" rtlCol="0" anchor="t"/>
          <a:lstStyle/>
          <a:p>
            <a:pPr indent="0" marL="0">
              <a:buNone/>
            </a:pPr>
            <a:r>
              <a:rPr lang="en-US" sz="850" dirty="0">
                <a:solidFill>
                  <a:srgbClr val="FFFFFF">
                    <a:alpha val="90000"/>
                  </a:srgbClr>
                </a:solidFill>
                <a:latin typeface="Calibri" pitchFamily="34" charset="0"/>
                <a:ea typeface="Calibri" pitchFamily="34" charset="-122"/>
                <a:cs typeface="Calibri" pitchFamily="34" charset="-120"/>
              </a:rPr>
              <a:t>Analyses, journals, check-ins, history</a:t>
            </a:r>
            <a:endParaRPr lang="en-US" sz="850" dirty="0"/>
          </a:p>
        </p:txBody>
      </p:sp>
      <p:sp>
        <p:nvSpPr>
          <p:cNvPr id="44" name="Text 30"/>
          <p:cNvSpPr/>
          <p:nvPr/>
        </p:nvSpPr>
        <p:spPr>
          <a:xfrm>
            <a:off x="6629400" y="6035040"/>
            <a:ext cx="4846320" cy="274320"/>
          </a:xfrm>
          <a:prstGeom prst="rect">
            <a:avLst/>
          </a:prstGeom>
          <a:noFill/>
          <a:ln/>
        </p:spPr>
        <p:txBody>
          <a:bodyPr wrap="square" lIns="0" tIns="0" rIns="0" bIns="0" rtlCol="0" anchor="ctr"/>
          <a:lstStyle/>
          <a:p>
            <a:pPr algn="ctr" indent="0" marL="0">
              <a:buNone/>
            </a:pPr>
            <a:r>
              <a:rPr lang="en-US" sz="950" i="1" dirty="0">
                <a:solidFill>
                  <a:srgbClr val="64748B"/>
                </a:solidFill>
                <a:latin typeface="Calibri" pitchFamily="34" charset="0"/>
                <a:ea typeface="Calibri" pitchFamily="34" charset="-122"/>
                <a:cs typeface="Calibri" pitchFamily="34" charset="-120"/>
              </a:rPr>
              <a:t>Structured JSON response returned to app</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3D3F"/>
        </a:solidFill>
      </p:bgPr>
    </p:bg>
    <p:spTree>
      <p:nvGrpSpPr>
        <p:cNvPr id="1" name=""/>
        <p:cNvGrpSpPr/>
        <p:nvPr/>
      </p:nvGrpSpPr>
      <p:grpSpPr>
        <a:xfrm>
          <a:off x="0" y="0"/>
          <a:ext cx="0" cy="0"/>
          <a:chOff x="0" y="0"/>
          <a:chExt cx="0" cy="0"/>
        </a:xfrm>
      </p:grpSpPr>
      <p:sp>
        <p:nvSpPr>
          <p:cNvPr id="2" name="Text 0"/>
          <p:cNvSpPr/>
          <p:nvPr/>
        </p:nvSpPr>
        <p:spPr>
          <a:xfrm>
            <a:off x="548640" y="365760"/>
            <a:ext cx="731520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Deployment Architecture</a:t>
            </a:r>
            <a:endParaRPr lang="en-US" sz="3200" dirty="0"/>
          </a:p>
        </p:txBody>
      </p:sp>
      <p:sp>
        <p:nvSpPr>
          <p:cNvPr id="3" name="Text 1"/>
          <p:cNvSpPr/>
          <p:nvPr/>
        </p:nvSpPr>
        <p:spPr>
          <a:xfrm>
            <a:off x="548640" y="1005840"/>
            <a:ext cx="7772400" cy="365760"/>
          </a:xfrm>
          <a:prstGeom prst="rect">
            <a:avLst/>
          </a:prstGeom>
          <a:noFill/>
          <a:ln/>
        </p:spPr>
        <p:txBody>
          <a:bodyPr wrap="square" lIns="0" tIns="0" rIns="0" bIns="0" rtlCol="0" anchor="ctr"/>
          <a:lstStyle/>
          <a:p>
            <a:pPr indent="0" marL="0">
              <a:buNone/>
            </a:pPr>
            <a:r>
              <a:rPr lang="en-US" sz="1300" i="1" dirty="0">
                <a:solidFill>
                  <a:srgbClr val="B8D8D8"/>
                </a:solidFill>
                <a:latin typeface="Calibri" pitchFamily="34" charset="0"/>
                <a:ea typeface="Calibri" pitchFamily="34" charset="-122"/>
                <a:cs typeface="Calibri" pitchFamily="34" charset="-120"/>
              </a:rPr>
              <a:t>From source code to a live, containerized API the Flutter app can call</a:t>
            </a:r>
            <a:endParaRPr lang="en-US" sz="1300" dirty="0"/>
          </a:p>
        </p:txBody>
      </p:sp>
      <p:sp>
        <p:nvSpPr>
          <p:cNvPr id="4" name="Shape 2"/>
          <p:cNvSpPr/>
          <p:nvPr/>
        </p:nvSpPr>
        <p:spPr>
          <a:xfrm>
            <a:off x="548640" y="1828800"/>
            <a:ext cx="457200" cy="457200"/>
          </a:xfrm>
          <a:prstGeom prst="ellipse">
            <a:avLst/>
          </a:prstGeom>
          <a:solidFill>
            <a:srgbClr val="00A896"/>
          </a:solidFill>
          <a:ln/>
        </p:spPr>
      </p:sp>
      <p:pic>
        <p:nvPicPr>
          <p:cNvPr id="5" name="Image 0" descr="preencoded.png">    </p:cNvPr>
          <p:cNvPicPr>
            <a:picLocks noChangeAspect="1"/>
          </p:cNvPicPr>
          <p:nvPr/>
        </p:nvPicPr>
        <p:blipFill>
          <a:blip r:embed="rId1"/>
          <a:stretch>
            <a:fillRect/>
          </a:stretch>
        </p:blipFill>
        <p:spPr>
          <a:xfrm>
            <a:off x="667512" y="1947672"/>
            <a:ext cx="219456" cy="219456"/>
          </a:xfrm>
          <a:prstGeom prst="rect">
            <a:avLst/>
          </a:prstGeom>
        </p:spPr>
      </p:pic>
      <p:sp>
        <p:nvSpPr>
          <p:cNvPr id="6" name="Text 3"/>
          <p:cNvSpPr/>
          <p:nvPr/>
        </p:nvSpPr>
        <p:spPr>
          <a:xfrm>
            <a:off x="1188720" y="1828800"/>
            <a:ext cx="457200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Backend is containerized with Docker</a:t>
            </a:r>
            <a:endParaRPr lang="en-US" sz="1400" dirty="0"/>
          </a:p>
        </p:txBody>
      </p:sp>
      <p:sp>
        <p:nvSpPr>
          <p:cNvPr id="7" name="Shape 4"/>
          <p:cNvSpPr/>
          <p:nvPr/>
        </p:nvSpPr>
        <p:spPr>
          <a:xfrm>
            <a:off x="548640" y="2697480"/>
            <a:ext cx="457200" cy="457200"/>
          </a:xfrm>
          <a:prstGeom prst="ellipse">
            <a:avLst/>
          </a:prstGeom>
          <a:solidFill>
            <a:srgbClr val="00A896"/>
          </a:solidFill>
          <a:ln/>
        </p:spPr>
      </p:sp>
      <p:pic>
        <p:nvPicPr>
          <p:cNvPr id="8" name="Image 1" descr="preencoded.png">    </p:cNvPr>
          <p:cNvPicPr>
            <a:picLocks noChangeAspect="1"/>
          </p:cNvPicPr>
          <p:nvPr/>
        </p:nvPicPr>
        <p:blipFill>
          <a:blip r:embed="rId2"/>
          <a:stretch>
            <a:fillRect/>
          </a:stretch>
        </p:blipFill>
        <p:spPr>
          <a:xfrm>
            <a:off x="667512" y="2816352"/>
            <a:ext cx="219456" cy="219456"/>
          </a:xfrm>
          <a:prstGeom prst="rect">
            <a:avLst/>
          </a:prstGeom>
        </p:spPr>
      </p:pic>
      <p:sp>
        <p:nvSpPr>
          <p:cNvPr id="9" name="Text 5"/>
          <p:cNvSpPr/>
          <p:nvPr/>
        </p:nvSpPr>
        <p:spPr>
          <a:xfrm>
            <a:off x="1188720" y="2697480"/>
            <a:ext cx="457200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Deployed on Hugging Face Spaces</a:t>
            </a:r>
            <a:endParaRPr lang="en-US" sz="1400" dirty="0"/>
          </a:p>
        </p:txBody>
      </p:sp>
      <p:sp>
        <p:nvSpPr>
          <p:cNvPr id="10" name="Shape 6"/>
          <p:cNvSpPr/>
          <p:nvPr/>
        </p:nvSpPr>
        <p:spPr>
          <a:xfrm>
            <a:off x="548640" y="3566160"/>
            <a:ext cx="457200" cy="457200"/>
          </a:xfrm>
          <a:prstGeom prst="ellipse">
            <a:avLst/>
          </a:prstGeom>
          <a:solidFill>
            <a:srgbClr val="00A896"/>
          </a:solidFill>
          <a:ln/>
        </p:spPr>
      </p:sp>
      <p:pic>
        <p:nvPicPr>
          <p:cNvPr id="11" name="Image 2" descr="preencoded.png">    </p:cNvPr>
          <p:cNvPicPr>
            <a:picLocks noChangeAspect="1"/>
          </p:cNvPicPr>
          <p:nvPr/>
        </p:nvPicPr>
        <p:blipFill>
          <a:blip r:embed="rId3"/>
          <a:stretch>
            <a:fillRect/>
          </a:stretch>
        </p:blipFill>
        <p:spPr>
          <a:xfrm>
            <a:off x="667512" y="3685032"/>
            <a:ext cx="219456" cy="219456"/>
          </a:xfrm>
          <a:prstGeom prst="rect">
            <a:avLst/>
          </a:prstGeom>
        </p:spPr>
      </p:pic>
      <p:sp>
        <p:nvSpPr>
          <p:cNvPr id="12" name="Text 7"/>
          <p:cNvSpPr/>
          <p:nvPr/>
        </p:nvSpPr>
        <p:spPr>
          <a:xfrm>
            <a:off x="1188720" y="3566160"/>
            <a:ext cx="457200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Uvicorn runs the FastAPI app</a:t>
            </a:r>
            <a:endParaRPr lang="en-US" sz="1400" dirty="0"/>
          </a:p>
        </p:txBody>
      </p:sp>
      <p:sp>
        <p:nvSpPr>
          <p:cNvPr id="13" name="Shape 8"/>
          <p:cNvSpPr/>
          <p:nvPr/>
        </p:nvSpPr>
        <p:spPr>
          <a:xfrm>
            <a:off x="548640" y="4434840"/>
            <a:ext cx="457200" cy="457200"/>
          </a:xfrm>
          <a:prstGeom prst="ellipse">
            <a:avLst/>
          </a:prstGeom>
          <a:solidFill>
            <a:srgbClr val="00A896"/>
          </a:solidFill>
          <a:ln/>
        </p:spPr>
      </p:sp>
      <p:pic>
        <p:nvPicPr>
          <p:cNvPr id="14" name="Image 3" descr="preencoded.png">    </p:cNvPr>
          <p:cNvPicPr>
            <a:picLocks noChangeAspect="1"/>
          </p:cNvPicPr>
          <p:nvPr/>
        </p:nvPicPr>
        <p:blipFill>
          <a:blip r:embed="rId4"/>
          <a:stretch>
            <a:fillRect/>
          </a:stretch>
        </p:blipFill>
        <p:spPr>
          <a:xfrm>
            <a:off x="667512" y="4553712"/>
            <a:ext cx="219456" cy="219456"/>
          </a:xfrm>
          <a:prstGeom prst="rect">
            <a:avLst/>
          </a:prstGeom>
        </p:spPr>
      </p:pic>
      <p:sp>
        <p:nvSpPr>
          <p:cNvPr id="15" name="Text 9"/>
          <p:cNvSpPr/>
          <p:nvPr/>
        </p:nvSpPr>
        <p:spPr>
          <a:xfrm>
            <a:off x="1188720" y="4434840"/>
            <a:ext cx="457200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Environment variables manage configuration</a:t>
            </a:r>
            <a:endParaRPr lang="en-US" sz="1400" dirty="0"/>
          </a:p>
        </p:txBody>
      </p:sp>
      <p:sp>
        <p:nvSpPr>
          <p:cNvPr id="16" name="Shape 10"/>
          <p:cNvSpPr/>
          <p:nvPr/>
        </p:nvSpPr>
        <p:spPr>
          <a:xfrm>
            <a:off x="548640" y="5303520"/>
            <a:ext cx="457200" cy="457200"/>
          </a:xfrm>
          <a:prstGeom prst="ellipse">
            <a:avLst/>
          </a:prstGeom>
          <a:solidFill>
            <a:srgbClr val="00A896"/>
          </a:solidFill>
          <a:ln/>
        </p:spPr>
      </p:sp>
      <p:pic>
        <p:nvPicPr>
          <p:cNvPr id="17" name="Image 4" descr="preencoded.png">    </p:cNvPr>
          <p:cNvPicPr>
            <a:picLocks noChangeAspect="1"/>
          </p:cNvPicPr>
          <p:nvPr/>
        </p:nvPicPr>
        <p:blipFill>
          <a:blip r:embed="rId5"/>
          <a:stretch>
            <a:fillRect/>
          </a:stretch>
        </p:blipFill>
        <p:spPr>
          <a:xfrm>
            <a:off x="667512" y="5422392"/>
            <a:ext cx="219456" cy="219456"/>
          </a:xfrm>
          <a:prstGeom prst="rect">
            <a:avLst/>
          </a:prstGeom>
        </p:spPr>
      </p:pic>
      <p:sp>
        <p:nvSpPr>
          <p:cNvPr id="18" name="Text 11"/>
          <p:cNvSpPr/>
          <p:nvPr/>
        </p:nvSpPr>
        <p:spPr>
          <a:xfrm>
            <a:off x="1188720" y="5303520"/>
            <a:ext cx="457200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The service is accessible over HTTPS</a:t>
            </a:r>
            <a:endParaRPr lang="en-US" sz="1400" dirty="0"/>
          </a:p>
        </p:txBody>
      </p:sp>
      <p:sp>
        <p:nvSpPr>
          <p:cNvPr id="19" name="Shape 12"/>
          <p:cNvSpPr/>
          <p:nvPr/>
        </p:nvSpPr>
        <p:spPr>
          <a:xfrm>
            <a:off x="6309360" y="411480"/>
            <a:ext cx="5486400" cy="6035040"/>
          </a:xfrm>
          <a:prstGeom prst="roundRect">
            <a:avLst>
              <a:gd name="adj" fmla="val 1333"/>
            </a:avLst>
          </a:prstGeom>
          <a:solidFill>
            <a:srgbClr val="0F4C4F"/>
          </a:solidFill>
          <a:ln/>
          <a:effectLst>
            <a:outerShdw sx="100000" sy="100000" kx="0" ky="0" algn="bl" rotWithShape="0" blurRad="101600" dist="38100" dir="2700000">
              <a:srgbClr val="000000">
                <a:alpha val="25000"/>
              </a:srgbClr>
            </a:outerShdw>
          </a:effectLst>
        </p:spPr>
      </p:sp>
      <p:sp>
        <p:nvSpPr>
          <p:cNvPr id="20" name="Text 13"/>
          <p:cNvSpPr/>
          <p:nvPr/>
        </p:nvSpPr>
        <p:spPr>
          <a:xfrm>
            <a:off x="6629400" y="640080"/>
            <a:ext cx="484632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Deployment Pipeline</a:t>
            </a:r>
            <a:endParaRPr lang="en-US" sz="1400" dirty="0"/>
          </a:p>
        </p:txBody>
      </p:sp>
      <p:sp>
        <p:nvSpPr>
          <p:cNvPr id="21" name="Shape 14"/>
          <p:cNvSpPr/>
          <p:nvPr/>
        </p:nvSpPr>
        <p:spPr>
          <a:xfrm>
            <a:off x="6903720" y="1188720"/>
            <a:ext cx="4297680" cy="603504"/>
          </a:xfrm>
          <a:prstGeom prst="roundRect">
            <a:avLst>
              <a:gd name="adj" fmla="val 9091"/>
            </a:avLst>
          </a:prstGeom>
          <a:solidFill>
            <a:srgbClr val="00A896"/>
          </a:solidFill>
          <a:ln/>
          <a:effectLst>
            <a:outerShdw sx="100000" sy="100000" kx="0" ky="0" algn="bl" rotWithShape="0" blurRad="50800" dist="19050" dir="2700000">
              <a:srgbClr val="000000">
                <a:alpha val="20000"/>
              </a:srgbClr>
            </a:outerShdw>
          </a:effectLst>
        </p:spPr>
      </p:sp>
      <p:pic>
        <p:nvPicPr>
          <p:cNvPr id="22" name="Image 5" descr="preencoded.png">    </p:cNvPr>
          <p:cNvPicPr>
            <a:picLocks noChangeAspect="1"/>
          </p:cNvPicPr>
          <p:nvPr/>
        </p:nvPicPr>
        <p:blipFill>
          <a:blip r:embed="rId6"/>
          <a:stretch>
            <a:fillRect/>
          </a:stretch>
        </p:blipFill>
        <p:spPr>
          <a:xfrm>
            <a:off x="6995160" y="1280160"/>
            <a:ext cx="420624" cy="420624"/>
          </a:xfrm>
          <a:prstGeom prst="rect">
            <a:avLst/>
          </a:prstGeom>
        </p:spPr>
      </p:pic>
      <p:sp>
        <p:nvSpPr>
          <p:cNvPr id="23" name="Text 15"/>
          <p:cNvSpPr/>
          <p:nvPr/>
        </p:nvSpPr>
        <p:spPr>
          <a:xfrm>
            <a:off x="7507224" y="1188720"/>
            <a:ext cx="3602736" cy="350032"/>
          </a:xfrm>
          <a:prstGeom prst="rect">
            <a:avLst/>
          </a:prstGeom>
          <a:noFill/>
          <a:ln/>
        </p:spPr>
        <p:txBody>
          <a:bodyPr wrap="square" lIns="0" tIns="0" rIns="0" bIns="0" rtlCol="0" anchor="b"/>
          <a:lstStyle/>
          <a:p>
            <a:pPr indent="0" marL="0">
              <a:buNone/>
            </a:pPr>
            <a:r>
              <a:rPr lang="en-US" sz="1200" b="1" dirty="0">
                <a:solidFill>
                  <a:srgbClr val="FFFFFF"/>
                </a:solidFill>
                <a:latin typeface="Calibri" pitchFamily="34" charset="0"/>
                <a:ea typeface="Calibri" pitchFamily="34" charset="-122"/>
                <a:cs typeface="Calibri" pitchFamily="34" charset="-120"/>
              </a:rPr>
              <a:t>Project Code</a:t>
            </a:r>
            <a:endParaRPr lang="en-US" sz="1200" dirty="0"/>
          </a:p>
        </p:txBody>
      </p:sp>
      <p:sp>
        <p:nvSpPr>
          <p:cNvPr id="24" name="Text 16"/>
          <p:cNvSpPr/>
          <p:nvPr/>
        </p:nvSpPr>
        <p:spPr>
          <a:xfrm>
            <a:off x="7507224" y="1502542"/>
            <a:ext cx="3602736" cy="253472"/>
          </a:xfrm>
          <a:prstGeom prst="rect">
            <a:avLst/>
          </a:prstGeom>
          <a:noFill/>
          <a:ln/>
        </p:spPr>
        <p:txBody>
          <a:bodyPr wrap="square" lIns="0" tIns="0" rIns="0" bIns="0" rtlCol="0" anchor="t"/>
          <a:lstStyle/>
          <a:p>
            <a:pPr indent="0" marL="0">
              <a:buNone/>
            </a:pPr>
            <a:r>
              <a:rPr lang="en-US" sz="850" dirty="0">
                <a:solidFill>
                  <a:srgbClr val="FFFFFF">
                    <a:alpha val="85000"/>
                  </a:srgbClr>
                </a:solidFill>
                <a:latin typeface="Calibri" pitchFamily="34" charset="0"/>
                <a:ea typeface="Calibri" pitchFamily="34" charset="-122"/>
                <a:cs typeface="Calibri" pitchFamily="34" charset="-120"/>
              </a:rPr>
              <a:t>FastAPI source &amp; dependencies</a:t>
            </a:r>
            <a:endParaRPr lang="en-US" sz="850" dirty="0"/>
          </a:p>
        </p:txBody>
      </p:sp>
      <p:pic>
        <p:nvPicPr>
          <p:cNvPr id="25" name="Image 6" descr="preencoded.png">    </p:cNvPr>
          <p:cNvPicPr>
            <a:picLocks noChangeAspect="1"/>
          </p:cNvPicPr>
          <p:nvPr/>
        </p:nvPicPr>
        <p:blipFill>
          <a:blip r:embed="rId7"/>
          <a:stretch>
            <a:fillRect/>
          </a:stretch>
        </p:blipFill>
        <p:spPr>
          <a:xfrm rot="5400000">
            <a:off x="8961120" y="1771650"/>
            <a:ext cx="164592" cy="164592"/>
          </a:xfrm>
          <a:prstGeom prst="rect">
            <a:avLst/>
          </a:prstGeom>
        </p:spPr>
      </p:pic>
      <p:sp>
        <p:nvSpPr>
          <p:cNvPr id="26" name="Shape 17"/>
          <p:cNvSpPr/>
          <p:nvPr/>
        </p:nvSpPr>
        <p:spPr>
          <a:xfrm>
            <a:off x="6903720" y="1915668"/>
            <a:ext cx="4297680" cy="603504"/>
          </a:xfrm>
          <a:prstGeom prst="roundRect">
            <a:avLst>
              <a:gd name="adj" fmla="val 9091"/>
            </a:avLst>
          </a:prstGeom>
          <a:solidFill>
            <a:srgbClr val="028090"/>
          </a:solidFill>
          <a:ln/>
          <a:effectLst>
            <a:outerShdw sx="100000" sy="100000" kx="0" ky="0" algn="bl" rotWithShape="0" blurRad="50800" dist="19050" dir="2700000">
              <a:srgbClr val="000000">
                <a:alpha val="20000"/>
              </a:srgbClr>
            </a:outerShdw>
          </a:effectLst>
        </p:spPr>
      </p:sp>
      <p:pic>
        <p:nvPicPr>
          <p:cNvPr id="27" name="Image 7" descr="preencoded.png">    </p:cNvPr>
          <p:cNvPicPr>
            <a:picLocks noChangeAspect="1"/>
          </p:cNvPicPr>
          <p:nvPr/>
        </p:nvPicPr>
        <p:blipFill>
          <a:blip r:embed="rId8"/>
          <a:stretch>
            <a:fillRect/>
          </a:stretch>
        </p:blipFill>
        <p:spPr>
          <a:xfrm>
            <a:off x="6995160" y="2007108"/>
            <a:ext cx="420624" cy="420624"/>
          </a:xfrm>
          <a:prstGeom prst="rect">
            <a:avLst/>
          </a:prstGeom>
        </p:spPr>
      </p:pic>
      <p:sp>
        <p:nvSpPr>
          <p:cNvPr id="28" name="Text 18"/>
          <p:cNvSpPr/>
          <p:nvPr/>
        </p:nvSpPr>
        <p:spPr>
          <a:xfrm>
            <a:off x="7507224" y="1915668"/>
            <a:ext cx="3602736" cy="350032"/>
          </a:xfrm>
          <a:prstGeom prst="rect">
            <a:avLst/>
          </a:prstGeom>
          <a:noFill/>
          <a:ln/>
        </p:spPr>
        <p:txBody>
          <a:bodyPr wrap="square" lIns="0" tIns="0" rIns="0" bIns="0" rtlCol="0" anchor="b"/>
          <a:lstStyle/>
          <a:p>
            <a:pPr indent="0" marL="0">
              <a:buNone/>
            </a:pPr>
            <a:r>
              <a:rPr lang="en-US" sz="1200" b="1" dirty="0">
                <a:solidFill>
                  <a:srgbClr val="FFFFFF"/>
                </a:solidFill>
                <a:latin typeface="Calibri" pitchFamily="34" charset="0"/>
                <a:ea typeface="Calibri" pitchFamily="34" charset="-122"/>
                <a:cs typeface="Calibri" pitchFamily="34" charset="-120"/>
              </a:rPr>
              <a:t>Docker Container</a:t>
            </a:r>
            <a:endParaRPr lang="en-US" sz="1200" dirty="0"/>
          </a:p>
        </p:txBody>
      </p:sp>
      <p:sp>
        <p:nvSpPr>
          <p:cNvPr id="29" name="Text 19"/>
          <p:cNvSpPr/>
          <p:nvPr/>
        </p:nvSpPr>
        <p:spPr>
          <a:xfrm>
            <a:off x="7507224" y="2229490"/>
            <a:ext cx="3602736" cy="253472"/>
          </a:xfrm>
          <a:prstGeom prst="rect">
            <a:avLst/>
          </a:prstGeom>
          <a:noFill/>
          <a:ln/>
        </p:spPr>
        <p:txBody>
          <a:bodyPr wrap="square" lIns="0" tIns="0" rIns="0" bIns="0" rtlCol="0" anchor="t"/>
          <a:lstStyle/>
          <a:p>
            <a:pPr indent="0" marL="0">
              <a:buNone/>
            </a:pPr>
            <a:r>
              <a:rPr lang="en-US" sz="850" dirty="0">
                <a:solidFill>
                  <a:srgbClr val="FFFFFF">
                    <a:alpha val="85000"/>
                  </a:srgbClr>
                </a:solidFill>
                <a:latin typeface="Calibri" pitchFamily="34" charset="0"/>
                <a:ea typeface="Calibri" pitchFamily="34" charset="-122"/>
                <a:cs typeface="Calibri" pitchFamily="34" charset="-120"/>
              </a:rPr>
              <a:t>Consistent runtime environment</a:t>
            </a:r>
            <a:endParaRPr lang="en-US" sz="850" dirty="0"/>
          </a:p>
        </p:txBody>
      </p:sp>
      <p:pic>
        <p:nvPicPr>
          <p:cNvPr id="30" name="Image 8" descr="preencoded.png">    </p:cNvPr>
          <p:cNvPicPr>
            <a:picLocks noChangeAspect="1"/>
          </p:cNvPicPr>
          <p:nvPr/>
        </p:nvPicPr>
        <p:blipFill>
          <a:blip r:embed="rId9"/>
          <a:stretch>
            <a:fillRect/>
          </a:stretch>
        </p:blipFill>
        <p:spPr>
          <a:xfrm rot="5400000">
            <a:off x="8961120" y="2498598"/>
            <a:ext cx="164592" cy="164592"/>
          </a:xfrm>
          <a:prstGeom prst="rect">
            <a:avLst/>
          </a:prstGeom>
        </p:spPr>
      </p:pic>
      <p:sp>
        <p:nvSpPr>
          <p:cNvPr id="31" name="Shape 20"/>
          <p:cNvSpPr/>
          <p:nvPr/>
        </p:nvSpPr>
        <p:spPr>
          <a:xfrm>
            <a:off x="6903720" y="2642616"/>
            <a:ext cx="4297680" cy="603504"/>
          </a:xfrm>
          <a:prstGeom prst="roundRect">
            <a:avLst>
              <a:gd name="adj" fmla="val 9091"/>
            </a:avLst>
          </a:prstGeom>
          <a:solidFill>
            <a:srgbClr val="00A896"/>
          </a:solidFill>
          <a:ln/>
          <a:effectLst>
            <a:outerShdw sx="100000" sy="100000" kx="0" ky="0" algn="bl" rotWithShape="0" blurRad="50800" dist="19050" dir="2700000">
              <a:srgbClr val="000000">
                <a:alpha val="20000"/>
              </a:srgbClr>
            </a:outerShdw>
          </a:effectLst>
        </p:spPr>
      </p:sp>
      <p:pic>
        <p:nvPicPr>
          <p:cNvPr id="32" name="Image 9" descr="preencoded.png">    </p:cNvPr>
          <p:cNvPicPr>
            <a:picLocks noChangeAspect="1"/>
          </p:cNvPicPr>
          <p:nvPr/>
        </p:nvPicPr>
        <p:blipFill>
          <a:blip r:embed="rId10"/>
          <a:stretch>
            <a:fillRect/>
          </a:stretch>
        </p:blipFill>
        <p:spPr>
          <a:xfrm>
            <a:off x="6995160" y="2734056"/>
            <a:ext cx="420624" cy="420624"/>
          </a:xfrm>
          <a:prstGeom prst="rect">
            <a:avLst/>
          </a:prstGeom>
        </p:spPr>
      </p:pic>
      <p:sp>
        <p:nvSpPr>
          <p:cNvPr id="33" name="Text 21"/>
          <p:cNvSpPr/>
          <p:nvPr/>
        </p:nvSpPr>
        <p:spPr>
          <a:xfrm>
            <a:off x="7507224" y="2642616"/>
            <a:ext cx="3602736" cy="350032"/>
          </a:xfrm>
          <a:prstGeom prst="rect">
            <a:avLst/>
          </a:prstGeom>
          <a:noFill/>
          <a:ln/>
        </p:spPr>
        <p:txBody>
          <a:bodyPr wrap="square" lIns="0" tIns="0" rIns="0" bIns="0" rtlCol="0" anchor="b"/>
          <a:lstStyle/>
          <a:p>
            <a:pPr indent="0" marL="0">
              <a:buNone/>
            </a:pPr>
            <a:r>
              <a:rPr lang="en-US" sz="1200" b="1" dirty="0">
                <a:solidFill>
                  <a:srgbClr val="FFFFFF"/>
                </a:solidFill>
                <a:latin typeface="Calibri" pitchFamily="34" charset="0"/>
                <a:ea typeface="Calibri" pitchFamily="34" charset="-122"/>
                <a:cs typeface="Calibri" pitchFamily="34" charset="-120"/>
              </a:rPr>
              <a:t>Hugging Face Spaces</a:t>
            </a:r>
            <a:endParaRPr lang="en-US" sz="1200" dirty="0"/>
          </a:p>
        </p:txBody>
      </p:sp>
      <p:sp>
        <p:nvSpPr>
          <p:cNvPr id="34" name="Text 22"/>
          <p:cNvSpPr/>
          <p:nvPr/>
        </p:nvSpPr>
        <p:spPr>
          <a:xfrm>
            <a:off x="7507224" y="2956438"/>
            <a:ext cx="3602736" cy="253472"/>
          </a:xfrm>
          <a:prstGeom prst="rect">
            <a:avLst/>
          </a:prstGeom>
          <a:noFill/>
          <a:ln/>
        </p:spPr>
        <p:txBody>
          <a:bodyPr wrap="square" lIns="0" tIns="0" rIns="0" bIns="0" rtlCol="0" anchor="t"/>
          <a:lstStyle/>
          <a:p>
            <a:pPr indent="0" marL="0">
              <a:buNone/>
            </a:pPr>
            <a:r>
              <a:rPr lang="en-US" sz="850" dirty="0">
                <a:solidFill>
                  <a:srgbClr val="FFFFFF">
                    <a:alpha val="85000"/>
                  </a:srgbClr>
                </a:solidFill>
                <a:latin typeface="Calibri" pitchFamily="34" charset="0"/>
                <a:ea typeface="Calibri" pitchFamily="34" charset="-122"/>
                <a:cs typeface="Calibri" pitchFamily="34" charset="-120"/>
              </a:rPr>
              <a:t>Hosts the container</a:t>
            </a:r>
            <a:endParaRPr lang="en-US" sz="850" dirty="0"/>
          </a:p>
        </p:txBody>
      </p:sp>
      <p:pic>
        <p:nvPicPr>
          <p:cNvPr id="35" name="Image 10" descr="preencoded.png">    </p:cNvPr>
          <p:cNvPicPr>
            <a:picLocks noChangeAspect="1"/>
          </p:cNvPicPr>
          <p:nvPr/>
        </p:nvPicPr>
        <p:blipFill>
          <a:blip r:embed="rId11"/>
          <a:stretch>
            <a:fillRect/>
          </a:stretch>
        </p:blipFill>
        <p:spPr>
          <a:xfrm rot="5400000">
            <a:off x="8961120" y="3225546"/>
            <a:ext cx="164592" cy="164592"/>
          </a:xfrm>
          <a:prstGeom prst="rect">
            <a:avLst/>
          </a:prstGeom>
        </p:spPr>
      </p:pic>
      <p:sp>
        <p:nvSpPr>
          <p:cNvPr id="36" name="Shape 23"/>
          <p:cNvSpPr/>
          <p:nvPr/>
        </p:nvSpPr>
        <p:spPr>
          <a:xfrm>
            <a:off x="6903720" y="3369564"/>
            <a:ext cx="4297680" cy="603504"/>
          </a:xfrm>
          <a:prstGeom prst="roundRect">
            <a:avLst>
              <a:gd name="adj" fmla="val 9091"/>
            </a:avLst>
          </a:prstGeom>
          <a:solidFill>
            <a:srgbClr val="028090"/>
          </a:solidFill>
          <a:ln/>
          <a:effectLst>
            <a:outerShdw sx="100000" sy="100000" kx="0" ky="0" algn="bl" rotWithShape="0" blurRad="50800" dist="19050" dir="2700000">
              <a:srgbClr val="000000">
                <a:alpha val="20000"/>
              </a:srgbClr>
            </a:outerShdw>
          </a:effectLst>
        </p:spPr>
      </p:sp>
      <p:pic>
        <p:nvPicPr>
          <p:cNvPr id="37" name="Image 11" descr="preencoded.png">    </p:cNvPr>
          <p:cNvPicPr>
            <a:picLocks noChangeAspect="1"/>
          </p:cNvPicPr>
          <p:nvPr/>
        </p:nvPicPr>
        <p:blipFill>
          <a:blip r:embed="rId12"/>
          <a:stretch>
            <a:fillRect/>
          </a:stretch>
        </p:blipFill>
        <p:spPr>
          <a:xfrm>
            <a:off x="6995160" y="3461004"/>
            <a:ext cx="420624" cy="420624"/>
          </a:xfrm>
          <a:prstGeom prst="rect">
            <a:avLst/>
          </a:prstGeom>
        </p:spPr>
      </p:pic>
      <p:sp>
        <p:nvSpPr>
          <p:cNvPr id="38" name="Text 24"/>
          <p:cNvSpPr/>
          <p:nvPr/>
        </p:nvSpPr>
        <p:spPr>
          <a:xfrm>
            <a:off x="7507224" y="3369564"/>
            <a:ext cx="3602736" cy="350032"/>
          </a:xfrm>
          <a:prstGeom prst="rect">
            <a:avLst/>
          </a:prstGeom>
          <a:noFill/>
          <a:ln/>
        </p:spPr>
        <p:txBody>
          <a:bodyPr wrap="square" lIns="0" tIns="0" rIns="0" bIns="0" rtlCol="0" anchor="b"/>
          <a:lstStyle/>
          <a:p>
            <a:pPr indent="0" marL="0">
              <a:buNone/>
            </a:pPr>
            <a:r>
              <a:rPr lang="en-US" sz="1200" b="1" dirty="0">
                <a:solidFill>
                  <a:srgbClr val="FFFFFF"/>
                </a:solidFill>
                <a:latin typeface="Calibri" pitchFamily="34" charset="0"/>
                <a:ea typeface="Calibri" pitchFamily="34" charset="-122"/>
                <a:cs typeface="Calibri" pitchFamily="34" charset="-120"/>
              </a:rPr>
              <a:t>Uvicorn FastAPI Server</a:t>
            </a:r>
            <a:endParaRPr lang="en-US" sz="1200" dirty="0"/>
          </a:p>
        </p:txBody>
      </p:sp>
      <p:sp>
        <p:nvSpPr>
          <p:cNvPr id="39" name="Text 25"/>
          <p:cNvSpPr/>
          <p:nvPr/>
        </p:nvSpPr>
        <p:spPr>
          <a:xfrm>
            <a:off x="7507224" y="3683386"/>
            <a:ext cx="3602736" cy="253472"/>
          </a:xfrm>
          <a:prstGeom prst="rect">
            <a:avLst/>
          </a:prstGeom>
          <a:noFill/>
          <a:ln/>
        </p:spPr>
        <p:txBody>
          <a:bodyPr wrap="square" lIns="0" tIns="0" rIns="0" bIns="0" rtlCol="0" anchor="t"/>
          <a:lstStyle/>
          <a:p>
            <a:pPr indent="0" marL="0">
              <a:buNone/>
            </a:pPr>
            <a:r>
              <a:rPr lang="en-US" sz="850" dirty="0">
                <a:solidFill>
                  <a:srgbClr val="FFFFFF">
                    <a:alpha val="85000"/>
                  </a:srgbClr>
                </a:solidFill>
                <a:latin typeface="Calibri" pitchFamily="34" charset="0"/>
                <a:ea typeface="Calibri" pitchFamily="34" charset="-122"/>
                <a:cs typeface="Calibri" pitchFamily="34" charset="-120"/>
              </a:rPr>
              <a:t>Runs the app inside the container</a:t>
            </a:r>
            <a:endParaRPr lang="en-US" sz="850" dirty="0"/>
          </a:p>
        </p:txBody>
      </p:sp>
      <p:pic>
        <p:nvPicPr>
          <p:cNvPr id="40" name="Image 12" descr="preencoded.png">    </p:cNvPr>
          <p:cNvPicPr>
            <a:picLocks noChangeAspect="1"/>
          </p:cNvPicPr>
          <p:nvPr/>
        </p:nvPicPr>
        <p:blipFill>
          <a:blip r:embed="rId13"/>
          <a:stretch>
            <a:fillRect/>
          </a:stretch>
        </p:blipFill>
        <p:spPr>
          <a:xfrm rot="5400000">
            <a:off x="8961120" y="3952494"/>
            <a:ext cx="164592" cy="164592"/>
          </a:xfrm>
          <a:prstGeom prst="rect">
            <a:avLst/>
          </a:prstGeom>
        </p:spPr>
      </p:pic>
      <p:sp>
        <p:nvSpPr>
          <p:cNvPr id="41" name="Shape 26"/>
          <p:cNvSpPr/>
          <p:nvPr/>
        </p:nvSpPr>
        <p:spPr>
          <a:xfrm>
            <a:off x="6903720" y="4096512"/>
            <a:ext cx="4297680" cy="603504"/>
          </a:xfrm>
          <a:prstGeom prst="roundRect">
            <a:avLst>
              <a:gd name="adj" fmla="val 9091"/>
            </a:avLst>
          </a:prstGeom>
          <a:solidFill>
            <a:srgbClr val="00A896"/>
          </a:solidFill>
          <a:ln/>
          <a:effectLst>
            <a:outerShdw sx="100000" sy="100000" kx="0" ky="0" algn="bl" rotWithShape="0" blurRad="50800" dist="19050" dir="2700000">
              <a:srgbClr val="000000">
                <a:alpha val="20000"/>
              </a:srgbClr>
            </a:outerShdw>
          </a:effectLst>
        </p:spPr>
      </p:sp>
      <p:pic>
        <p:nvPicPr>
          <p:cNvPr id="42" name="Image 13" descr="preencoded.png">    </p:cNvPr>
          <p:cNvPicPr>
            <a:picLocks noChangeAspect="1"/>
          </p:cNvPicPr>
          <p:nvPr/>
        </p:nvPicPr>
        <p:blipFill>
          <a:blip r:embed="rId14"/>
          <a:stretch>
            <a:fillRect/>
          </a:stretch>
        </p:blipFill>
        <p:spPr>
          <a:xfrm>
            <a:off x="6995160" y="4187952"/>
            <a:ext cx="420624" cy="420624"/>
          </a:xfrm>
          <a:prstGeom prst="rect">
            <a:avLst/>
          </a:prstGeom>
        </p:spPr>
      </p:pic>
      <p:sp>
        <p:nvSpPr>
          <p:cNvPr id="43" name="Text 27"/>
          <p:cNvSpPr/>
          <p:nvPr/>
        </p:nvSpPr>
        <p:spPr>
          <a:xfrm>
            <a:off x="7507224" y="4096512"/>
            <a:ext cx="3602736" cy="350032"/>
          </a:xfrm>
          <a:prstGeom prst="rect">
            <a:avLst/>
          </a:prstGeom>
          <a:noFill/>
          <a:ln/>
        </p:spPr>
        <p:txBody>
          <a:bodyPr wrap="square" lIns="0" tIns="0" rIns="0" bIns="0" rtlCol="0" anchor="b"/>
          <a:lstStyle/>
          <a:p>
            <a:pPr indent="0" marL="0">
              <a:buNone/>
            </a:pPr>
            <a:r>
              <a:rPr lang="en-US" sz="1200" b="1" dirty="0">
                <a:solidFill>
                  <a:srgbClr val="FFFFFF"/>
                </a:solidFill>
                <a:latin typeface="Calibri" pitchFamily="34" charset="0"/>
                <a:ea typeface="Calibri" pitchFamily="34" charset="-122"/>
                <a:cs typeface="Calibri" pitchFamily="34" charset="-120"/>
              </a:rPr>
              <a:t>Public API Endpoint</a:t>
            </a:r>
            <a:endParaRPr lang="en-US" sz="1200" dirty="0"/>
          </a:p>
        </p:txBody>
      </p:sp>
      <p:sp>
        <p:nvSpPr>
          <p:cNvPr id="44" name="Text 28"/>
          <p:cNvSpPr/>
          <p:nvPr/>
        </p:nvSpPr>
        <p:spPr>
          <a:xfrm>
            <a:off x="7507224" y="4410334"/>
            <a:ext cx="3602736" cy="253472"/>
          </a:xfrm>
          <a:prstGeom prst="rect">
            <a:avLst/>
          </a:prstGeom>
          <a:noFill/>
          <a:ln/>
        </p:spPr>
        <p:txBody>
          <a:bodyPr wrap="square" lIns="0" tIns="0" rIns="0" bIns="0" rtlCol="0" anchor="t"/>
          <a:lstStyle/>
          <a:p>
            <a:pPr indent="0" marL="0">
              <a:buNone/>
            </a:pPr>
            <a:r>
              <a:rPr lang="en-US" sz="850" dirty="0">
                <a:solidFill>
                  <a:srgbClr val="FFFFFF">
                    <a:alpha val="85000"/>
                  </a:srgbClr>
                </a:solidFill>
                <a:latin typeface="Calibri" pitchFamily="34" charset="0"/>
                <a:ea typeface="Calibri" pitchFamily="34" charset="-122"/>
                <a:cs typeface="Calibri" pitchFamily="34" charset="-120"/>
              </a:rPr>
              <a:t>Accessible over HTTPS</a:t>
            </a:r>
            <a:endParaRPr lang="en-US" sz="850" dirty="0"/>
          </a:p>
        </p:txBody>
      </p:sp>
      <p:pic>
        <p:nvPicPr>
          <p:cNvPr id="45" name="Image 14" descr="preencoded.png">    </p:cNvPr>
          <p:cNvPicPr>
            <a:picLocks noChangeAspect="1"/>
          </p:cNvPicPr>
          <p:nvPr/>
        </p:nvPicPr>
        <p:blipFill>
          <a:blip r:embed="rId15"/>
          <a:stretch>
            <a:fillRect/>
          </a:stretch>
        </p:blipFill>
        <p:spPr>
          <a:xfrm rot="5400000">
            <a:off x="8961120" y="4679442"/>
            <a:ext cx="164592" cy="164592"/>
          </a:xfrm>
          <a:prstGeom prst="rect">
            <a:avLst/>
          </a:prstGeom>
        </p:spPr>
      </p:pic>
      <p:sp>
        <p:nvSpPr>
          <p:cNvPr id="46" name="Shape 29"/>
          <p:cNvSpPr/>
          <p:nvPr/>
        </p:nvSpPr>
        <p:spPr>
          <a:xfrm>
            <a:off x="6903720" y="4823460"/>
            <a:ext cx="4297680" cy="603504"/>
          </a:xfrm>
          <a:prstGeom prst="roundRect">
            <a:avLst>
              <a:gd name="adj" fmla="val 9091"/>
            </a:avLst>
          </a:prstGeom>
          <a:solidFill>
            <a:srgbClr val="02C39A"/>
          </a:solidFill>
          <a:ln/>
          <a:effectLst>
            <a:outerShdw sx="100000" sy="100000" kx="0" ky="0" algn="bl" rotWithShape="0" blurRad="50800" dist="19050" dir="2700000">
              <a:srgbClr val="000000">
                <a:alpha val="20000"/>
              </a:srgbClr>
            </a:outerShdw>
          </a:effectLst>
        </p:spPr>
      </p:sp>
      <p:pic>
        <p:nvPicPr>
          <p:cNvPr id="47" name="Image 15" descr="preencoded.png">    </p:cNvPr>
          <p:cNvPicPr>
            <a:picLocks noChangeAspect="1"/>
          </p:cNvPicPr>
          <p:nvPr/>
        </p:nvPicPr>
        <p:blipFill>
          <a:blip r:embed="rId16"/>
          <a:stretch>
            <a:fillRect/>
          </a:stretch>
        </p:blipFill>
        <p:spPr>
          <a:xfrm>
            <a:off x="6995160" y="4914900"/>
            <a:ext cx="420624" cy="420624"/>
          </a:xfrm>
          <a:prstGeom prst="rect">
            <a:avLst/>
          </a:prstGeom>
        </p:spPr>
      </p:pic>
      <p:sp>
        <p:nvSpPr>
          <p:cNvPr id="48" name="Text 30"/>
          <p:cNvSpPr/>
          <p:nvPr/>
        </p:nvSpPr>
        <p:spPr>
          <a:xfrm>
            <a:off x="7507224" y="4823460"/>
            <a:ext cx="3602736" cy="350032"/>
          </a:xfrm>
          <a:prstGeom prst="rect">
            <a:avLst/>
          </a:prstGeom>
          <a:noFill/>
          <a:ln/>
        </p:spPr>
        <p:txBody>
          <a:bodyPr wrap="square" lIns="0" tIns="0" rIns="0" bIns="0" rtlCol="0" anchor="b"/>
          <a:lstStyle/>
          <a:p>
            <a:pPr indent="0" marL="0">
              <a:buNone/>
            </a:pPr>
            <a:r>
              <a:rPr lang="en-US" sz="1200" b="1" dirty="0">
                <a:solidFill>
                  <a:srgbClr val="FFFFFF"/>
                </a:solidFill>
                <a:latin typeface="Calibri" pitchFamily="34" charset="0"/>
                <a:ea typeface="Calibri" pitchFamily="34" charset="-122"/>
                <a:cs typeface="Calibri" pitchFamily="34" charset="-120"/>
              </a:rPr>
              <a:t>Flutter App</a:t>
            </a:r>
            <a:endParaRPr lang="en-US" sz="1200" dirty="0"/>
          </a:p>
        </p:txBody>
      </p:sp>
      <p:sp>
        <p:nvSpPr>
          <p:cNvPr id="49" name="Text 31"/>
          <p:cNvSpPr/>
          <p:nvPr/>
        </p:nvSpPr>
        <p:spPr>
          <a:xfrm>
            <a:off x="7507224" y="5137282"/>
            <a:ext cx="3602736" cy="253472"/>
          </a:xfrm>
          <a:prstGeom prst="rect">
            <a:avLst/>
          </a:prstGeom>
          <a:noFill/>
          <a:ln/>
        </p:spPr>
        <p:txBody>
          <a:bodyPr wrap="square" lIns="0" tIns="0" rIns="0" bIns="0" rtlCol="0" anchor="t"/>
          <a:lstStyle/>
          <a:p>
            <a:pPr indent="0" marL="0">
              <a:buNone/>
            </a:pPr>
            <a:r>
              <a:rPr lang="en-US" sz="850" dirty="0">
                <a:solidFill>
                  <a:srgbClr val="FFFFFF">
                    <a:alpha val="85000"/>
                  </a:srgbClr>
                </a:solidFill>
                <a:latin typeface="Calibri" pitchFamily="34" charset="0"/>
                <a:ea typeface="Calibri" pitchFamily="34" charset="-122"/>
                <a:cs typeface="Calibri" pitchFamily="34" charset="-120"/>
              </a:rPr>
              <a:t>Sends requests to the live API</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SafeSpace Architecture</dc:title>
  <dc:subject>PptxGenJS Presentation</dc:subject>
  <dc:creator>SafeSpace</dc:creator>
  <cp:lastModifiedBy>SafeSpace</cp:lastModifiedBy>
  <cp:revision>1</cp:revision>
  <dcterms:created xsi:type="dcterms:W3CDTF">2026-06-12T18:56:37Z</dcterms:created>
  <dcterms:modified xsi:type="dcterms:W3CDTF">2026-06-12T18:56:37Z</dcterms:modified>
</cp:coreProperties>
</file>